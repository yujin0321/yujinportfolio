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0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82" r:id="rId23"/>
    <p:sldId id="278" r:id="rId24"/>
    <p:sldId id="279" r:id="rId25"/>
    <p:sldId id="280" r:id="rId26"/>
    <p:sldId id="281" r:id="rId27"/>
    <p:sldId id="283" r:id="rId28"/>
    <p:sldId id="296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7" r:id="rId37"/>
    <p:sldId id="298" r:id="rId38"/>
    <p:sldId id="299" r:id="rId39"/>
    <p:sldId id="293" r:id="rId4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791" autoAdjust="0"/>
  </p:normalViewPr>
  <p:slideViewPr>
    <p:cSldViewPr>
      <p:cViewPr varScale="1">
        <p:scale>
          <a:sx n="49" d="100"/>
          <a:sy n="49" d="100"/>
        </p:scale>
        <p:origin x="1042" y="82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41E3-DF27-4377-A71E-BB03E96A56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8427F-BE54-43C0-9FEC-0B8B72DF6E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17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700" dirty="0"/>
              <a:t>저희 조의 주제는 서울시 은퇴 노인을 위한 취미</a:t>
            </a:r>
            <a:r>
              <a:rPr lang="en-US" altLang="ko-KR" sz="700" dirty="0"/>
              <a:t>, </a:t>
            </a:r>
            <a:r>
              <a:rPr lang="ko-KR" altLang="en-US" sz="700" dirty="0"/>
              <a:t>일자리 매칭 서비스입니다</a:t>
            </a:r>
            <a:r>
              <a:rPr lang="en-US" altLang="ko-KR" sz="700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발표는 프로젝트 배경</a:t>
            </a:r>
            <a:r>
              <a:rPr lang="en-US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ko-KR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다각적 관점에서 현상 문제 분석</a:t>
            </a:r>
            <a:r>
              <a:rPr lang="en-US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ko-KR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서비스의 한계</a:t>
            </a:r>
            <a:r>
              <a:rPr lang="en-US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ko-KR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서비스와 저희가 진행한 프로젝트와의 </a:t>
            </a:r>
            <a:r>
              <a:rPr lang="ko-KR" altLang="ko-KR" sz="7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차별점</a:t>
            </a:r>
            <a:r>
              <a:rPr lang="en-US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ko-KR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 구현 및 활용</a:t>
            </a:r>
            <a:r>
              <a:rPr lang="en-US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ko-KR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 해결 과정</a:t>
            </a:r>
            <a:r>
              <a:rPr lang="en-US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ko-KR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결론 순으로 진행하겠습니다</a:t>
            </a:r>
            <a:r>
              <a:rPr lang="en-US" altLang="ko-KR" sz="7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7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802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프로젝트 배경입니다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700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시대라는 말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들어보신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있으신가요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우리 사회는 매우 빠르게 고령화가 진행되고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 기사를 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은퇴를 했음에도 불구하고 경제적으로 여유가 없어 여전히 일을 해야 하는 노인층이 많다는 현실을 보여줍니다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가운데 그래프는 통계청의 고령화 전망인데요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65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이상 인구 비율이 계속 증가하면서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 우리나라는 고령사회에 진입했고 앞으로는 초고령사회로 이동할 것으로 예측됩니다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오래 사는 시대가 아니라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노년기가 굉장히 길어지는 사회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되고 있다는 의미입니다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자료를 보면 은퇴 시기가 희망보다 실제로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정도 더 빠르게 찾아오지만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노후 준비는 절반 이상이 아직 시작도 하지 못한 상태라는 점을 알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평균 수명은 늘었는데 은퇴 연령은 그대로이고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경제적‧정서적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준비가 충분히 되지 않은 채 긴 노후기간을 맞이하는 노인이 빠르게 증가하고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윤고딕 Bold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윤고딕 Bold"/>
              </a:rPr>
              <a:t>,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고령화로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평균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수명은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늘어나고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있지만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은퇴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연령은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그대로이기에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은퇴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후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준비되지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않은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긴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노후기간이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발생하는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altLang="ko-KR" sz="1200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문제</a:t>
            </a:r>
            <a:r>
              <a:rPr lang="ko-KR" altLang="en-US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가 생깁니다</a:t>
            </a:r>
            <a:r>
              <a:rPr lang="en-US" altLang="ko-KR" sz="1200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033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상황을 종합해보면</a:t>
            </a:r>
            <a:r>
              <a:rPr lang="en-US" altLang="ko-KR" dirty="0"/>
              <a:t>, </a:t>
            </a:r>
            <a:r>
              <a:rPr lang="ko-KR" altLang="en-US" dirty="0"/>
              <a:t>단순히 노후 기간이 길어진다는 차원을 넘어 </a:t>
            </a:r>
            <a:r>
              <a:rPr lang="ko-KR" altLang="en-US" b="1" dirty="0"/>
              <a:t>노년층이 실제 생활 속에서 부딪히는 문제들이 더욱 뚜렷하게 드러나고 있다</a:t>
            </a:r>
            <a:r>
              <a:rPr lang="ko-KR" altLang="en-US" dirty="0"/>
              <a:t>는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저희는 고령화 시대에 노년층이 겪는 어려움을 좀 더 구체적으로 조사하였습니다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b="1" dirty="0"/>
              <a:t>은퇴 후 사회적 관계가 급격히 줄어들면서 겪는 심리</a:t>
            </a:r>
            <a:r>
              <a:rPr lang="en-US" altLang="ko-KR" b="1" dirty="0"/>
              <a:t>·</a:t>
            </a:r>
            <a:r>
              <a:rPr lang="ko-KR" altLang="en-US" b="1" dirty="0"/>
              <a:t>사회적 어려움입니다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r>
              <a:rPr lang="ko-KR" altLang="en-US" dirty="0"/>
              <a:t>오랜 기간 몸담았던 직장이나 사회적 역할이 사라지면서 </a:t>
            </a:r>
            <a:r>
              <a:rPr lang="ko-KR" altLang="en-US" dirty="0" err="1"/>
              <a:t>고립감</a:t>
            </a:r>
            <a:r>
              <a:rPr lang="en-US" altLang="ko-KR" dirty="0"/>
              <a:t>, </a:t>
            </a:r>
            <a:r>
              <a:rPr lang="ko-KR" altLang="en-US" dirty="0"/>
              <a:t>외로움</a:t>
            </a:r>
            <a:r>
              <a:rPr lang="en-US" altLang="ko-KR" dirty="0"/>
              <a:t>, </a:t>
            </a:r>
            <a:r>
              <a:rPr lang="ko-KR" altLang="en-US" dirty="0"/>
              <a:t>우울감과 같은 정서적인 문제가 쉽게 발생합니다</a:t>
            </a:r>
            <a:r>
              <a:rPr lang="en-US" altLang="ko-KR" dirty="0"/>
              <a:t>. </a:t>
            </a:r>
            <a:r>
              <a:rPr lang="ko-KR" altLang="en-US" dirty="0"/>
              <a:t>이는 단순한 개인 문제가 아니라</a:t>
            </a:r>
            <a:r>
              <a:rPr lang="en-US" altLang="ko-KR" dirty="0"/>
              <a:t>, </a:t>
            </a:r>
            <a:r>
              <a:rPr lang="ko-KR" altLang="en-US" dirty="0"/>
              <a:t>노년층의 삶의 질을 크게 떨어뜨리는 중요한 사회적 이슈입니다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번째로</a:t>
            </a:r>
            <a:r>
              <a:rPr lang="en-US" altLang="ko-KR" dirty="0"/>
              <a:t>, </a:t>
            </a:r>
            <a:r>
              <a:rPr lang="ko-KR" altLang="en-US" b="1" dirty="0"/>
              <a:t>경제적 어려움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전 기사에서 보셨던 것처럼 많은 노년층은 충분한 준비 없이 은퇴를 맞이합니다</a:t>
            </a:r>
            <a:r>
              <a:rPr lang="en-US" altLang="ko-KR" dirty="0"/>
              <a:t>. </a:t>
            </a:r>
            <a:r>
              <a:rPr lang="ko-KR" altLang="en-US" dirty="0"/>
              <a:t>수입은 크게 줄어들지만</a:t>
            </a:r>
            <a:r>
              <a:rPr lang="en-US" altLang="ko-KR" dirty="0"/>
              <a:t>, </a:t>
            </a:r>
            <a:r>
              <a:rPr lang="ko-KR" altLang="en-US" dirty="0"/>
              <a:t>기본적인 생활비는 유지되기 때문에 경제적 부담이 커집니다</a:t>
            </a:r>
            <a:r>
              <a:rPr lang="en-US" altLang="ko-KR" dirty="0"/>
              <a:t>. </a:t>
            </a:r>
            <a:r>
              <a:rPr lang="ko-KR" altLang="en-US" dirty="0"/>
              <a:t>이런 상황은 새로운 취미 활동이나 사회참여 활동을 시작하는 데에도 큰 장벽으로 작용합니다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마지막으로</a:t>
            </a:r>
            <a:r>
              <a:rPr lang="en-US" altLang="ko-KR" dirty="0"/>
              <a:t>, </a:t>
            </a:r>
            <a:r>
              <a:rPr lang="ko-KR" altLang="en-US" b="1" dirty="0"/>
              <a:t>지역 기반 정보 접근성의 부족</a:t>
            </a:r>
            <a:r>
              <a:rPr lang="ko-KR" altLang="en-US" dirty="0"/>
              <a:t> 문제입니다</a:t>
            </a:r>
            <a:r>
              <a:rPr lang="en-US" altLang="ko-KR" dirty="0"/>
              <a:t>. </a:t>
            </a:r>
            <a:r>
              <a:rPr lang="ko-KR" altLang="en-US" dirty="0"/>
              <a:t>지자체나 지역 커뮤니티에서는 다양한 프로그램</a:t>
            </a:r>
            <a:r>
              <a:rPr lang="en-US" altLang="ko-KR" dirty="0"/>
              <a:t>, </a:t>
            </a:r>
            <a:r>
              <a:rPr lang="ko-KR" altLang="en-US" dirty="0"/>
              <a:t>강좌</a:t>
            </a:r>
            <a:r>
              <a:rPr lang="en-US" altLang="ko-KR" dirty="0"/>
              <a:t>, </a:t>
            </a:r>
            <a:r>
              <a:rPr lang="ko-KR" altLang="en-US" dirty="0"/>
              <a:t>일자리 정보 등을 제공하고 있지만</a:t>
            </a:r>
            <a:r>
              <a:rPr lang="en-US" altLang="ko-KR" dirty="0"/>
              <a:t>, </a:t>
            </a:r>
            <a:r>
              <a:rPr lang="ko-KR" altLang="en-US" dirty="0"/>
              <a:t>실제로 노인분들이 이 정보를 제대로 인지하고 활용하기가 쉽지 않습니다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온라인 정보 접근에 익숙하지 않거나</a:t>
            </a:r>
            <a:r>
              <a:rPr lang="en-US" altLang="ko-KR" dirty="0"/>
              <a:t>, </a:t>
            </a:r>
            <a:r>
              <a:rPr lang="ko-KR" altLang="en-US" dirty="0"/>
              <a:t>정보를 찾는 과정이 복잡해 참여 기회를 놓치는 경우가 많습니다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dirty="0"/>
              <a:t>심리</a:t>
            </a:r>
            <a:r>
              <a:rPr lang="en-US" altLang="ko-KR" b="1" dirty="0"/>
              <a:t>·</a:t>
            </a:r>
            <a:r>
              <a:rPr lang="ko-KR" altLang="en-US" b="1" dirty="0"/>
              <a:t>사회적 고립</a:t>
            </a:r>
            <a:r>
              <a:rPr lang="en-US" altLang="ko-KR" b="1" dirty="0"/>
              <a:t>, </a:t>
            </a:r>
            <a:r>
              <a:rPr lang="ko-KR" altLang="en-US" b="1" dirty="0"/>
              <a:t>경제적 제약</a:t>
            </a:r>
            <a:r>
              <a:rPr lang="en-US" altLang="ko-KR" b="1" dirty="0"/>
              <a:t>, </a:t>
            </a:r>
            <a:r>
              <a:rPr lang="ko-KR" altLang="en-US" b="1" dirty="0"/>
              <a:t>지역 정보 접근성 부족</a:t>
            </a:r>
            <a:r>
              <a:rPr lang="ko-KR" altLang="en-US" dirty="0"/>
              <a:t>이라는 세 가지 문제는 서로 연결되며</a:t>
            </a:r>
            <a:r>
              <a:rPr lang="en-US" altLang="ko-KR" dirty="0"/>
              <a:t>, </a:t>
            </a:r>
            <a:r>
              <a:rPr lang="ko-KR" altLang="en-US" dirty="0"/>
              <a:t>고령화 시대의 노년층이 실제로 마주하고 있는 핵심적인 어려움들입니다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저희 프로젝트는 바로 이 문제들을 배경으로 기획하고 진행하게 되었습니다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892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프로젝트를 기획하는 과정에서 필요한 기능을 파악하고</a:t>
            </a:r>
            <a:r>
              <a:rPr lang="en-US" altLang="ko-KR" dirty="0"/>
              <a:t>, </a:t>
            </a:r>
            <a:r>
              <a:rPr lang="ko-KR" altLang="en-US" dirty="0"/>
              <a:t>문제를 더 깊이 이해하기 위해 은퇴 노인을 둘러싼 여러 관점에서 상황을 분석해 보았습니다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57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먼저</a:t>
            </a:r>
            <a:r>
              <a:rPr lang="en-US" altLang="ko-KR" b="1" dirty="0"/>
              <a:t>, </a:t>
            </a:r>
            <a:r>
              <a:rPr lang="ko-KR" altLang="en-US" b="1" dirty="0"/>
              <a:t>취미</a:t>
            </a:r>
            <a:r>
              <a:rPr lang="en-US" altLang="ko-KR" b="1" dirty="0"/>
              <a:t>·</a:t>
            </a:r>
            <a:r>
              <a:rPr lang="ko-KR" altLang="en-US" b="1" dirty="0"/>
              <a:t>여가 프로그램이 필요한 은퇴 노인의 관점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많은 노인분들이 은퇴 이후 가장 먼저 느끼는 어려움은 바로 정체성 상실과 고립감입니다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취미 활동은 단순한 여가를 넘어서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새로운 삶의 리듬과 사회적 관계를 만들어주는 중요한 요소입니다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현실에서는 문제들이 존재합니다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지역마다 프로그램 정보가 흩어져 있거나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참여 비용 또는 이동 거리 때문에 원하는 활동을 아예 찾지 못하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경우가 많습니다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요즘 취미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커뮤니티가 디지털 기반으로 빠르게 이동하고 있지만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노년층은 디지털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리터러시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격차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스마트폰이나 온라인 환경에 익숙하지 않기 때문에 온라인으로만 모집되는 프로그램은 접근성이 떨어지는 문제가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12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두번째는 일자리가 필요한 은퇴 노인의 관점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많은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은퇴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노인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들은 은퇴 후에도 소득 일부를 보충하거나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규칙적인 활동을 위해 가벼운 일거리를 희망합니다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기존 구직 플랫폼들은 체력 요구도가 높거나 반복적인 업무 중심으로 제공되는 경우가 많아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노인이 실제 하고 싶은 일거리와 시스템이 제공하는 일자리 간에 미스매치가 발생하고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휴대폰 인증이나 본인인증처럼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젊은 세대에게는 익숙한 절차도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노년층에게는 매우 높은 진입장벽이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가족의 도움 없이는 아예 지원 자체가 불가능한 상황도 만들어지고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542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번째는 </a:t>
            </a:r>
            <a:r>
              <a:rPr lang="ko-KR" altLang="en-US" b="1" dirty="0"/>
              <a:t>은퇴 노인을 가까이에서 지켜보는 가족들의 관점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가족들은 부모님의 고독</a:t>
            </a:r>
            <a:r>
              <a:rPr lang="en-US" altLang="ko-KR" dirty="0"/>
              <a:t>, </a:t>
            </a:r>
            <a:r>
              <a:rPr lang="ko-KR" altLang="en-US" dirty="0"/>
              <a:t>무기력감</a:t>
            </a:r>
            <a:r>
              <a:rPr lang="en-US" altLang="ko-KR" dirty="0"/>
              <a:t>, </a:t>
            </a:r>
            <a:r>
              <a:rPr lang="ko-KR" altLang="en-US" dirty="0"/>
              <a:t>건강 악화 등을 걱정하지만</a:t>
            </a:r>
            <a:r>
              <a:rPr lang="en-US" altLang="ko-KR" dirty="0"/>
              <a:t>, </a:t>
            </a:r>
            <a:r>
              <a:rPr lang="ko-KR" altLang="en-US" dirty="0"/>
              <a:t>정작 적절한 활동이나 정보를 대신 찾아주는 데에도 많은 시간과 노력이 필요합니다</a:t>
            </a:r>
            <a:r>
              <a:rPr lang="en-US" altLang="ko-KR" dirty="0"/>
              <a:t>. </a:t>
            </a:r>
            <a:r>
              <a:rPr lang="ko-KR" altLang="en-US" dirty="0"/>
              <a:t>가족 입장에서도 ‘어떤 활동이 도움이 될지’ 정보를 얻기 어려운 상황입니다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특히 ‘어떤 활동이 도움이 될지’ 자체를 파악하기 어렵고</a:t>
            </a:r>
            <a:r>
              <a:rPr lang="en-US" altLang="ko-KR" dirty="0"/>
              <a:t>, </a:t>
            </a:r>
            <a:r>
              <a:rPr lang="ko-KR" altLang="en-US" dirty="0"/>
              <a:t>프로그램 정보를 알아내더라도 </a:t>
            </a:r>
            <a:r>
              <a:rPr lang="ko-KR" altLang="en-US" b="1" dirty="0"/>
              <a:t>신청 절차가 복잡하거나 예약 과정이 까다로워 가족이 대신 신청해드리는 것도 쉽지 않은 상황입니다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767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마지막으로는 정부 및 지자체의 관점입니다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dirty="0"/>
              <a:t>현재 정부와 각 지자체는 노년층의 사회참여 확대</a:t>
            </a:r>
            <a:r>
              <a:rPr lang="en-US" altLang="ko-KR" dirty="0"/>
              <a:t>, </a:t>
            </a:r>
            <a:r>
              <a:rPr lang="ko-KR" altLang="en-US" dirty="0"/>
              <a:t>고독사 예방</a:t>
            </a:r>
            <a:r>
              <a:rPr lang="en-US" altLang="ko-KR" dirty="0"/>
              <a:t>, </a:t>
            </a:r>
            <a:r>
              <a:rPr lang="ko-KR" altLang="en-US" dirty="0"/>
              <a:t>건강한 노후 지원을 위해 다양한 프로그램과 복지 서비스를 제공하고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하지만 실제 현장에서는 </a:t>
            </a:r>
            <a:r>
              <a:rPr lang="ko-KR" altLang="en-US" b="1" dirty="0"/>
              <a:t>제공되는 서비스와 이용자 사이에 연결이 원활하게 이루어지지 않는 문제</a:t>
            </a:r>
            <a:r>
              <a:rPr lang="ko-KR" altLang="en-US" dirty="0"/>
              <a:t>가 지속적으로 나타납니다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말은 곧</a:t>
            </a:r>
            <a:r>
              <a:rPr lang="en-US" altLang="ko-KR" dirty="0"/>
              <a:t>, </a:t>
            </a:r>
            <a:r>
              <a:rPr lang="ko-KR" altLang="en-US" dirty="0"/>
              <a:t>정부가 예산을 들여 운영하는 정책이 </a:t>
            </a:r>
            <a:r>
              <a:rPr lang="ko-KR" altLang="en-US" b="1" dirty="0"/>
              <a:t>실제 수요자에게 충분히 도달하지 못하고 있다는 뜻</a:t>
            </a:r>
            <a:r>
              <a:rPr lang="ko-KR" altLang="en-US" dirty="0"/>
              <a:t>이기도 합니다</a:t>
            </a:r>
            <a:r>
              <a:rPr lang="en-US" altLang="ko-KR" dirty="0"/>
              <a:t>. </a:t>
            </a:r>
            <a:r>
              <a:rPr lang="ko-KR" altLang="en-US" dirty="0"/>
              <a:t>또한 지자체 입장에서는 프로그램 참여 현황</a:t>
            </a:r>
            <a:r>
              <a:rPr lang="en-US" altLang="ko-KR" dirty="0"/>
              <a:t>, </a:t>
            </a:r>
            <a:r>
              <a:rPr lang="ko-KR" altLang="en-US" dirty="0"/>
              <a:t>이용자의 특성</a:t>
            </a:r>
            <a:r>
              <a:rPr lang="en-US" altLang="ko-KR" dirty="0"/>
              <a:t>, </a:t>
            </a:r>
            <a:r>
              <a:rPr lang="ko-KR" altLang="en-US" dirty="0"/>
              <a:t>지역별 수요 데이터를 체계적으로 파악하기 어렵기 때문에</a:t>
            </a:r>
            <a:br>
              <a:rPr lang="ko-KR" altLang="en-US" dirty="0"/>
            </a:br>
            <a:r>
              <a:rPr lang="ko-KR" altLang="en-US" b="1" dirty="0"/>
              <a:t>정책 설계와 예산 배분을 정확하게 하기 어려운 구조</a:t>
            </a:r>
            <a:r>
              <a:rPr lang="ko-KR" altLang="en-US" dirty="0"/>
              <a:t>가 만들어집니다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4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이제는 기존에 존재하는 서비스들을 살펴보고</a:t>
            </a:r>
            <a:r>
              <a:rPr lang="en-US" altLang="ko-KR" dirty="0"/>
              <a:t>, </a:t>
            </a:r>
            <a:r>
              <a:rPr lang="ko-KR" altLang="en-US" dirty="0"/>
              <a:t>왜 새로운 접근이 필요한지 말씀드리겠습니다</a:t>
            </a:r>
            <a:r>
              <a:rPr lang="en-US" altLang="ko-KR" dirty="0"/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노인 취미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일자리 관련 플랫폼들은 대부분 복지로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노인일자리가 여기에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기타 지역 기반 포털 형태로 제공되고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이들 서비스는 기능 자체는 많지만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정작 핵심 사용자층인 시니어에게는 사용하기 어려운 구조로 되어 있어 접근성이 매우 낮다는 문제가 있습니다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330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노인 취미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일자리 관련 플랫폼들은 대부분 복지로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노인일자리가 여기에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기타 지역 기반 포털 형태로 제공되고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이들 서비스는 기능 자체는 많지만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정작 핵심 사용자층인 시니어에게는 사용하기 어려운 구조로 되어 있어 접근성이 매우 낮다는 문제가 있습니다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124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복지로와 같은 공공 플랫폼의 경우 노인이 원하는 항목까지 도달하기 위해 많은 단계를 클릭해야 하거나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글씨 크기가 작아 시력이 약한 노인에게는 사실상 이용하기 어려운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구성되어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647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대부분의 서비스는 대리 입력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가족과 연동하는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제공하지 않아 처음 회원가입 단계부터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신청까지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가족의 도움 없이는 진행이 어렵다는 문제도 나타납니다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251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노인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일자리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플랫폼 역시 대부분 단순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공고 나열식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구조로 되어 있어 노인이 자신의 신체 상태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근무 가능 시간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활동 강도 등 개인 특성을 고려해 적합한 일자리를 선택하기 어렵습니다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나아가 지역명만 입력하면 공고가 한꺼번에 나오는 방식이라 정확한 위치 기반 추천이나 이동 거리 고려가 되지 않아 실제로 생활권에 맞는 매칭이 거의 이루어지지 않고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929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각 지역구 문화원 플랫폼은 사용자 친화적인 기능이 부족합니다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r>
              <a:rPr lang="ko-KR" altLang="en-US" dirty="0"/>
              <a:t>현재의 대부분 시스템은 단순한 ‘목록 제공’ 수준에 머물러 있어</a:t>
            </a:r>
            <a:br>
              <a:rPr lang="ko-KR" altLang="en-US" dirty="0"/>
            </a:br>
            <a:r>
              <a:rPr lang="ko-KR" altLang="en-US" dirty="0"/>
              <a:t>관심사 기반 추천이나 개인 맞춤 기능이 전혀 없습니다</a:t>
            </a:r>
            <a:r>
              <a:rPr lang="en-US" altLang="ko-KR" dirty="0"/>
              <a:t>. </a:t>
            </a:r>
            <a:r>
              <a:rPr lang="ko-KR" altLang="en-US" dirty="0"/>
              <a:t>그래서 어떤 프로그램이 본인에게 맞는지 스스로 판단해야 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은퇴 노인에게 매우 높은 진입 장벽이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478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현재의 기존 서비스는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정보는 있지만 활용은 어렵고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’, 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기능은 많지만 시니어 중심이 아닌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구조라는 점에서 명확한 한계를 가지고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저희 서비스는 기존 서비스와의 어떤 차이가 있는 지 말씀드리겠습니다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82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서비스들의 구조적 한계를 보완하기 위해 저희 프로젝트는 은퇴 노인분들의 실제 생활 패턴과 디지털 숙련도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 상태를 반영한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맞춤형 추천 시스템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중심으로 차별성을 마련했습니다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기존 플랫폼이 단순히 정보를 나열하는 방식이었다면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취미와 일자리를 통합해 의미 있는 활동을 기반으로 연결하고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이동 거리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 상태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성향 등을 종합해 현실적으로 참여 가능한 서비스를 추천합니다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핸드폰 사용이 어려운 은퇴 노인분들을 위해서 은퇴노인 분의 가족과 담당 복지사님과 계정은 연동하여 지속적인 관리가 가능하도록 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은퇴노인분들이 편안하게 사용하실 수 있도록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버튼 형태의 프로필 입력 구조와 큰 글자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충분한 행간으로 제작하여 은퇴노인분들께서 사용하시는데 최대한 진입장벽을 낮췄습니다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948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플랫폼은 대부분 공고 정보를 단순히 나열하는 형태였습니다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노인이 자신의 건강 상태나 이동 가능 거리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활동 시간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선호도를 고려해 적절한 활동을 선택하기가 매우 어려웠습니다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프로젝트는 은퇴 노인분들에게 꼭 필요한 정보를 한 페이지 내에서 프로필로 입력할 수 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데이터를 기반으로 활동 강도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필요 건강 상태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이동거리까지 반영하여 실제로 참가 가능한 일자리를 골라서 추천합니다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플랫폼이 제공하지 못한 노인 맞춤형 필터 구조를 보완했습니다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7938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서비스 대부분은 노인이 직접 정보를 입력하거나 인증 단계를 거치는 방식만 제공했습니다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많은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은퇴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노인층이 시력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인지능력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디지털 미숙으로 인해 이 단계를 혼자 수행하기 어렵습니다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서비스는 이런 현실을 반영해 가족이나 복지사가 함께 가입하고 관리할 수 있는 대리 입력 기능을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가족이나 복지사는 인증 번호 입력을 통해서 은퇴 노인과의 관계를 인증합니다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804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기능들을 어떻게 구현하였는지 설명하겠습니다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0315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앱은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프레임워크인 </a:t>
            </a:r>
            <a:r>
              <a:rPr lang="en-US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Tkinter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개발했고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화면을 독립된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클래스로 구성해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객체지향 구조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적용했습니다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유지보수성과 확장성을 높였습니다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프로필 기반 추천 로직과 화면 구조 설계는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도움을 받아 개발 방향을 잡아 프로토타입을 제작할 수 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추천 알고리즘 설계 단계에서도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도움을 받아 진행했습니다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 조건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이동 가능 거리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스마트폰 활용 능력처럼 변수 간 우선순위를 어떻게 두어야 하는지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가중치 구조를 어떻게 구성해야 하는지에 대해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도움으로 방향성을 잡고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바탕으로 점수 기반 추천 알고리즘을 최종 구축했습니다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딕셔너리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구조로 직접 구축했습니다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458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구의 취미 데이터와 일자리 샘플 데이터를 정리한 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시간대 같은 조건을 반영해 추천이 가능하도록 구성했습니다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723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전체 시스템 구조입니다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앱은 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흐름으로 진행됩니다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시작화면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인증화면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프로필 저장 화면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 메뉴 화면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추천 화면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 화면으로 이어집니다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구조를 자세히 설명하겠습니다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958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시작화면에서는 앱에 대한 간단한 소개와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유형을 선택하는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버튼이 존재합니다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시작화면에서 사용자 유형을 선택하면 유형 별 다르게 인증 화면으로 넘어갑니다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인증 화면에서 대리자 일 경우는 인증번호를 통해 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사용하시는 은퇴 노인분과의 관계를 인증합니다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526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프로필 입력 화면입니다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지역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성향 등을 입력하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 사용자 맞춤 추천 서비스를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프로필 입력이 끝나면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일자리 메뉴를 선택하는 메인 화면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나옵니다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 화면에서는 원하는 활동을 선택합니다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295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메인화면에서</a:t>
            </a:r>
            <a:r>
              <a:rPr lang="ko-KR" altLang="en-US" dirty="0"/>
              <a:t> 선택한 유형과 프로필 화면에서 입력한 사용자의 정보를 반영하여 사용자 지역에서 진행하는 취미</a:t>
            </a:r>
            <a:r>
              <a:rPr lang="en-US" altLang="ko-KR" dirty="0"/>
              <a:t> </a:t>
            </a:r>
            <a:r>
              <a:rPr lang="ko-KR" altLang="en-US" dirty="0"/>
              <a:t>프로그램과 일자리 프로그램을 나열하고 그 중 사용자에게 가장 잘 맞을 것 같은 프로그램 </a:t>
            </a:r>
            <a:r>
              <a:rPr lang="en-US" altLang="ko-KR" dirty="0"/>
              <a:t>3</a:t>
            </a:r>
            <a:r>
              <a:rPr lang="ko-KR" altLang="en-US" dirty="0"/>
              <a:t>개와 그 이유를 출력합니다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</a:t>
            </a:r>
            <a:r>
              <a:rPr lang="ko-KR" altLang="en-US" dirty="0"/>
              <a:t> 예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담당자 문의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버튼을 추가해 선택한 프로그램을 바로 예약할 수 있도록 구성하였습니다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dirty="0"/>
          </a:p>
          <a:p>
            <a:r>
              <a:rPr lang="ko-KR" altLang="en-US" dirty="0"/>
              <a:t>마지막으로 결과화면에서는 최근에 추천 받은 프로그램과 사용자가 즐겨찾기 선택한 프로그램을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0140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저희 프로젝트의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기능입니다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 조건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이동 가능 거리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성향 등을 반영하는 맞춤형 프로필 추천 시스템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 각 구별 취미 데이터 제공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속성 기반 필터링을 이용한 추천 기능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즐겨찾기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예약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문의 기능까지 포함해 시니어가 실제로 사용할 수 있는 완성도 있는 프로토타입을 제작했습니다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4556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개발 과정에서 마주했던 문제들과 해결 과정입니다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2282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번째는 화면 전환 구조 문제였습니다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Tkinter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여러 화면을 구성하다 보니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 전환 구조가 복잡해지는 문제가 발생했습니다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해결하기 위해 구글링과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StackOverflow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사례를 참고하고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Tkinter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다중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아키텍처를 질문하면서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AppFrame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추상 클래스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controller.show_frame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MVC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구조를 정립했습니다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6937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추천 알고리즘 설계 문제입니다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성향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스마트폰 능력처럼 다양한 요소를 어떻게 점수화해야 할지가 가장 큰 어려움이었습니다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해결하기 위해 구글링과 유튜브 무료 강의를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참고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하여 설계하고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활용해 가중치 구조와 점수 설계 아이디어를 보완 받아 현재의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가중치 추천 모델을 완성할 수 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8897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Listbox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 오류 문제였습니다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원인은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Tkinter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Listbox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문자열만 저장하고 실제 객체와 분리되어 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구조 때문이었습니다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도움으로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Listbox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인덱스를 별도 리스트와 매핑하는 방법을 적용하여 데이터 매핑 구조를 개선하고 선택 오류를 해결했습니다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1043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입력값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오류 처리 문제가 있었습니다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잘못된 값을 입력하면 프로그램이 종료되는 문제가 발생해 예외 처리와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messagebox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활용법을 학습하고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Tkinter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예외 처리 패턴을 질문하며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try/except +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showerror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기반의 안정적인 오류 처리 구조를 만들었습니다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잘못된 입력에도 종료되지 않는 안정적인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UX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확보했습니다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7662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이번 프로젝트의 결론입니다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8869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산업적 활용 가능성입니다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지자체가 실제로 도입할 수 있는 지역 기반 매칭 시스템 프로토타입으로 발전 가능할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시니어 일자리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취미 플랫폼 시장이 빠르게 성장하고 있는 만큼 확장성도 크다고 생각합니다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복지센터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문화센터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지자체 담당자 전용 관리 페이지로 확장해 향후 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 협업 모델로 발전할 수 있는 여지도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6998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두번째는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사회적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파급력입니다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시스템은 시니어의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고립감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감소와 심리적 안정에 기여하고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 사회 참여를 늘릴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취미 기반 일자리는 삶의 의미감과 자아존중감을 높이며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대리 입력과 간편 추천 기능을 통해 부담도 줄여줍니다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 커뮤니티 활성화로 지역 경제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사회적 자본이 증가하고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고령화 사회에서 복지 비용 절감 및 인력 재활용 효과까지 기대할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4143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프로젝트의 근거 자료입니다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3636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7189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표를 마치겠습니다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8427F-BE54-43C0-9FEC-0B8B72DF6ED5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701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m.100news.kr/6968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ews.kbs.co.kr/news/mobile/view/view.do?ncd=3198494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2F2E4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85800" y="2789159"/>
            <a:ext cx="16687800" cy="31949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12880"/>
              </a:lnSpc>
              <a:defRPr/>
            </a:pPr>
            <a:r>
              <a:rPr lang="en-US" sz="7200" b="1" dirty="0" err="1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서울시</a:t>
            </a:r>
            <a:r>
              <a:rPr lang="en-US" sz="7200" b="1" dirty="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은퇴</a:t>
            </a:r>
            <a:r>
              <a:rPr lang="en-US" sz="7200" b="1" dirty="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노인을</a:t>
            </a:r>
            <a:r>
              <a:rPr lang="en-US" sz="7200" b="1" dirty="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위한</a:t>
            </a:r>
            <a:r>
              <a:rPr lang="en-US" sz="7200" b="1" dirty="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</a:p>
          <a:p>
            <a:pPr lvl="0" algn="ctr">
              <a:lnSpc>
                <a:spcPts val="12880"/>
              </a:lnSpc>
              <a:defRPr/>
            </a:pPr>
            <a:r>
              <a:rPr lang="en-US" sz="7200" b="1" dirty="0" err="1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취미</a:t>
            </a:r>
            <a:r>
              <a:rPr lang="en-US" sz="7200" b="1" dirty="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일자리</a:t>
            </a:r>
            <a:r>
              <a:rPr lang="en-US" sz="7200" b="1" dirty="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매칭</a:t>
            </a:r>
            <a:r>
              <a:rPr lang="en-US" sz="7200" b="1" dirty="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서비스</a:t>
            </a:r>
            <a:endParaRPr lang="en-US" sz="7200" b="1" dirty="0">
              <a:solidFill>
                <a:srgbClr val="000000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670206" y="6809230"/>
            <a:ext cx="1237991" cy="2449070"/>
          </a:xfrm>
          <a:custGeom>
            <a:avLst/>
            <a:gdLst/>
            <a:ahLst/>
            <a:cxnLst/>
            <a:rect l="l" t="t" r="r" b="b"/>
            <a:pathLst>
              <a:path w="1237991" h="2449070">
                <a:moveTo>
                  <a:pt x="0" y="0"/>
                </a:moveTo>
                <a:lnTo>
                  <a:pt x="1237991" y="0"/>
                </a:lnTo>
                <a:lnTo>
                  <a:pt x="1237991" y="2449070"/>
                </a:lnTo>
                <a:lnTo>
                  <a:pt x="0" y="2449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2" y="4654503"/>
            <a:ext cx="6869633" cy="9461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492"/>
              </a:lnSpc>
              <a:defRPr/>
            </a:pPr>
            <a:r>
              <a:rPr lang="en-US" sz="6514" b="1" spc="-214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프로젝트 배경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2F2E47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3995" y="838519"/>
            <a:ext cx="16435806" cy="8766225"/>
            <a:chOff x="0" y="0"/>
            <a:chExt cx="21914408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Freeform 61"/>
          <p:cNvSpPr/>
          <p:nvPr/>
        </p:nvSpPr>
        <p:spPr>
          <a:xfrm>
            <a:off x="12224497" y="3199495"/>
            <a:ext cx="3684921" cy="3487610"/>
          </a:xfrm>
          <a:custGeom>
            <a:avLst/>
            <a:gdLst/>
            <a:ahLst/>
            <a:cxnLst/>
            <a:rect l="l" t="t" r="r" b="b"/>
            <a:pathLst>
              <a:path w="3684921" h="3487610">
                <a:moveTo>
                  <a:pt x="0" y="0"/>
                </a:moveTo>
                <a:lnTo>
                  <a:pt x="3684921" y="0"/>
                </a:lnTo>
                <a:lnTo>
                  <a:pt x="3684921" y="3487609"/>
                </a:lnTo>
                <a:lnTo>
                  <a:pt x="0" y="3487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87" b="-108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Freeform 62"/>
          <p:cNvSpPr/>
          <p:nvPr/>
        </p:nvSpPr>
        <p:spPr>
          <a:xfrm>
            <a:off x="6840043" y="3199495"/>
            <a:ext cx="3883500" cy="3487610"/>
          </a:xfrm>
          <a:custGeom>
            <a:avLst/>
            <a:gdLst/>
            <a:ahLst/>
            <a:cxnLst/>
            <a:rect l="l" t="t" r="r" b="b"/>
            <a:pathLst>
              <a:path w="3883500" h="3487610">
                <a:moveTo>
                  <a:pt x="0" y="0"/>
                </a:moveTo>
                <a:lnTo>
                  <a:pt x="3883500" y="0"/>
                </a:lnTo>
                <a:lnTo>
                  <a:pt x="3883500" y="3487609"/>
                </a:lnTo>
                <a:lnTo>
                  <a:pt x="0" y="3487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Freeform 63"/>
          <p:cNvSpPr/>
          <p:nvPr/>
        </p:nvSpPr>
        <p:spPr>
          <a:xfrm>
            <a:off x="1489140" y="3199495"/>
            <a:ext cx="3745084" cy="3487610"/>
          </a:xfrm>
          <a:custGeom>
            <a:avLst/>
            <a:gdLst/>
            <a:ahLst/>
            <a:cxnLst/>
            <a:rect l="l" t="t" r="r" b="b"/>
            <a:pathLst>
              <a:path w="3745084" h="3487610">
                <a:moveTo>
                  <a:pt x="0" y="0"/>
                </a:moveTo>
                <a:lnTo>
                  <a:pt x="3745084" y="0"/>
                </a:lnTo>
                <a:lnTo>
                  <a:pt x="3745084" y="3487609"/>
                </a:lnTo>
                <a:lnTo>
                  <a:pt x="0" y="3487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Box 64"/>
          <p:cNvSpPr txBox="1"/>
          <p:nvPr/>
        </p:nvSpPr>
        <p:spPr>
          <a:xfrm>
            <a:off x="1252656" y="1331182"/>
            <a:ext cx="1337285" cy="788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589941" y="1385474"/>
            <a:ext cx="4518676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 배경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224497" y="6883640"/>
            <a:ext cx="1585912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</a:t>
            </a:r>
            <a:r>
              <a:rPr lang="en-US" sz="9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2023 KB골든라이프 보고서]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840043" y="6810615"/>
            <a:ext cx="36068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[한국은행]2차 베이비부머의 은퇴연령 진입에 따른 경제적 영향 평가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03451" y="6883640"/>
            <a:ext cx="5316461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[서울경제] https://www.sedaily.com/NewsView/2H0LSFINF3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921298" y="7391640"/>
            <a:ext cx="14225608" cy="1586745"/>
            <a:chOff x="0" y="0"/>
            <a:chExt cx="3815901" cy="42563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815901" cy="425631"/>
            </a:xfrm>
            <a:custGeom>
              <a:avLst/>
              <a:gdLst/>
              <a:ahLst/>
              <a:cxnLst/>
              <a:rect l="l" t="t" r="r" b="b"/>
              <a:pathLst>
                <a:path w="3815901" h="425631">
                  <a:moveTo>
                    <a:pt x="14694" y="0"/>
                  </a:moveTo>
                  <a:lnTo>
                    <a:pt x="3801207" y="0"/>
                  </a:lnTo>
                  <a:cubicBezTo>
                    <a:pt x="3809322" y="0"/>
                    <a:pt x="3815901" y="6579"/>
                    <a:pt x="3815901" y="14694"/>
                  </a:cubicBezTo>
                  <a:lnTo>
                    <a:pt x="3815901" y="410937"/>
                  </a:lnTo>
                  <a:cubicBezTo>
                    <a:pt x="3815901" y="419052"/>
                    <a:pt x="3809322" y="425631"/>
                    <a:pt x="3801207" y="425631"/>
                  </a:cubicBezTo>
                  <a:lnTo>
                    <a:pt x="14694" y="425631"/>
                  </a:lnTo>
                  <a:cubicBezTo>
                    <a:pt x="6579" y="425631"/>
                    <a:pt x="0" y="419052"/>
                    <a:pt x="0" y="410937"/>
                  </a:cubicBezTo>
                  <a:lnTo>
                    <a:pt x="0" y="14694"/>
                  </a:lnTo>
                  <a:cubicBezTo>
                    <a:pt x="0" y="6579"/>
                    <a:pt x="6579" y="0"/>
                    <a:pt x="14694" y="0"/>
                  </a:cubicBezTo>
                  <a:close/>
                </a:path>
              </a:pathLst>
            </a:custGeom>
            <a:solidFill>
              <a:srgbClr val="F2F5FF">
                <a:alpha val="85882"/>
              </a:srgbClr>
            </a:solidFill>
            <a:ln w="9525" cap="rnd">
              <a:solidFill>
                <a:srgbClr val="3D4569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47625"/>
              <a:ext cx="3815901" cy="473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2285899" y="7134465"/>
            <a:ext cx="12991788" cy="219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endParaRPr dirty="0"/>
          </a:p>
          <a:p>
            <a:pPr algn="ctr">
              <a:lnSpc>
                <a:spcPts val="3917"/>
              </a:lnSpc>
            </a:pP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고령화로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평균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수명은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늘어나고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있지만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은퇴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연령은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그대로이기에</a:t>
            </a:r>
            <a:endParaRPr lang="en-US" sz="2798" dirty="0">
              <a:solidFill>
                <a:srgbClr val="3D4569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  <a:p>
            <a:pPr algn="ctr">
              <a:lnSpc>
                <a:spcPts val="3917"/>
              </a:lnSpc>
            </a:pP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은퇴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후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준비되지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않은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긴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노후기간이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발생하는</a:t>
            </a:r>
            <a:r>
              <a:rPr lang="en-US" sz="2798" dirty="0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798" dirty="0" err="1">
                <a:solidFill>
                  <a:srgbClr val="3D456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문제</a:t>
            </a:r>
            <a:endParaRPr lang="en-US" sz="2798" dirty="0">
              <a:solidFill>
                <a:srgbClr val="3D4569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  <a:p>
            <a:pPr algn="ctr">
              <a:lnSpc>
                <a:spcPts val="5441"/>
              </a:lnSpc>
              <a:spcBef>
                <a:spcPct val="0"/>
              </a:spcBef>
            </a:pPr>
            <a:endParaRPr lang="en-US" sz="2798" dirty="0">
              <a:solidFill>
                <a:srgbClr val="3D4569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64371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2398217" y="3823022"/>
            <a:ext cx="3990309" cy="3490694"/>
            <a:chOff x="0" y="0"/>
            <a:chExt cx="1014675" cy="88763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14674" cy="887630"/>
            </a:xfrm>
            <a:custGeom>
              <a:avLst/>
              <a:gdLst/>
              <a:ahLst/>
              <a:cxnLst/>
              <a:rect l="l" t="t" r="r" b="b"/>
              <a:pathLst>
                <a:path w="1014674" h="887630">
                  <a:moveTo>
                    <a:pt x="38804" y="0"/>
                  </a:moveTo>
                  <a:lnTo>
                    <a:pt x="975871" y="0"/>
                  </a:lnTo>
                  <a:cubicBezTo>
                    <a:pt x="997302" y="0"/>
                    <a:pt x="1014674" y="17373"/>
                    <a:pt x="1014674" y="38804"/>
                  </a:cubicBezTo>
                  <a:lnTo>
                    <a:pt x="1014674" y="848826"/>
                  </a:lnTo>
                  <a:cubicBezTo>
                    <a:pt x="1014674" y="870257"/>
                    <a:pt x="997302" y="887630"/>
                    <a:pt x="975871" y="887630"/>
                  </a:cubicBezTo>
                  <a:lnTo>
                    <a:pt x="38804" y="887630"/>
                  </a:lnTo>
                  <a:cubicBezTo>
                    <a:pt x="17373" y="887630"/>
                    <a:pt x="0" y="870257"/>
                    <a:pt x="0" y="848826"/>
                  </a:cubicBezTo>
                  <a:lnTo>
                    <a:pt x="0" y="38804"/>
                  </a:lnTo>
                  <a:cubicBezTo>
                    <a:pt x="0" y="17373"/>
                    <a:pt x="17373" y="0"/>
                    <a:pt x="38804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1014675" cy="925730"/>
            </a:xfrm>
            <a:prstGeom prst="rect">
              <a:avLst/>
            </a:prstGeom>
          </p:spPr>
          <p:txBody>
            <a:bodyPr lIns="52616" tIns="52616" rIns="52616" bIns="5261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369601" y="3823022"/>
            <a:ext cx="3990309" cy="3490694"/>
            <a:chOff x="0" y="0"/>
            <a:chExt cx="1014675" cy="88763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14674" cy="887630"/>
            </a:xfrm>
            <a:custGeom>
              <a:avLst/>
              <a:gdLst/>
              <a:ahLst/>
              <a:cxnLst/>
              <a:rect l="l" t="t" r="r" b="b"/>
              <a:pathLst>
                <a:path w="1014674" h="887630">
                  <a:moveTo>
                    <a:pt x="38804" y="0"/>
                  </a:moveTo>
                  <a:lnTo>
                    <a:pt x="975871" y="0"/>
                  </a:lnTo>
                  <a:cubicBezTo>
                    <a:pt x="997302" y="0"/>
                    <a:pt x="1014674" y="17373"/>
                    <a:pt x="1014674" y="38804"/>
                  </a:cubicBezTo>
                  <a:lnTo>
                    <a:pt x="1014674" y="848826"/>
                  </a:lnTo>
                  <a:cubicBezTo>
                    <a:pt x="1014674" y="870257"/>
                    <a:pt x="997302" y="887630"/>
                    <a:pt x="975871" y="887630"/>
                  </a:cubicBezTo>
                  <a:lnTo>
                    <a:pt x="38804" y="887630"/>
                  </a:lnTo>
                  <a:cubicBezTo>
                    <a:pt x="17373" y="887630"/>
                    <a:pt x="0" y="870257"/>
                    <a:pt x="0" y="848826"/>
                  </a:cubicBezTo>
                  <a:lnTo>
                    <a:pt x="0" y="38804"/>
                  </a:lnTo>
                  <a:cubicBezTo>
                    <a:pt x="0" y="17373"/>
                    <a:pt x="17373" y="0"/>
                    <a:pt x="38804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014675" cy="925730"/>
            </a:xfrm>
            <a:prstGeom prst="rect">
              <a:avLst/>
            </a:prstGeom>
          </p:spPr>
          <p:txBody>
            <a:bodyPr lIns="52616" tIns="52616" rIns="52616" bIns="5261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2340986" y="3823022"/>
            <a:ext cx="3990309" cy="3490694"/>
            <a:chOff x="0" y="0"/>
            <a:chExt cx="1014675" cy="88763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14674" cy="887630"/>
            </a:xfrm>
            <a:custGeom>
              <a:avLst/>
              <a:gdLst/>
              <a:ahLst/>
              <a:cxnLst/>
              <a:rect l="l" t="t" r="r" b="b"/>
              <a:pathLst>
                <a:path w="1014674" h="887630">
                  <a:moveTo>
                    <a:pt x="38804" y="0"/>
                  </a:moveTo>
                  <a:lnTo>
                    <a:pt x="975871" y="0"/>
                  </a:lnTo>
                  <a:cubicBezTo>
                    <a:pt x="997302" y="0"/>
                    <a:pt x="1014674" y="17373"/>
                    <a:pt x="1014674" y="38804"/>
                  </a:cubicBezTo>
                  <a:lnTo>
                    <a:pt x="1014674" y="848826"/>
                  </a:lnTo>
                  <a:cubicBezTo>
                    <a:pt x="1014674" y="870257"/>
                    <a:pt x="997302" y="887630"/>
                    <a:pt x="975871" y="887630"/>
                  </a:cubicBezTo>
                  <a:lnTo>
                    <a:pt x="38804" y="887630"/>
                  </a:lnTo>
                  <a:cubicBezTo>
                    <a:pt x="17373" y="887630"/>
                    <a:pt x="0" y="870257"/>
                    <a:pt x="0" y="848826"/>
                  </a:cubicBezTo>
                  <a:lnTo>
                    <a:pt x="0" y="38804"/>
                  </a:lnTo>
                  <a:cubicBezTo>
                    <a:pt x="0" y="17373"/>
                    <a:pt x="17373" y="0"/>
                    <a:pt x="38804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1014675" cy="925730"/>
            </a:xfrm>
            <a:prstGeom prst="rect">
              <a:avLst/>
            </a:prstGeom>
          </p:spPr>
          <p:txBody>
            <a:bodyPr lIns="52616" tIns="52616" rIns="52616" bIns="5261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70" name="Freeform 70"/>
          <p:cNvSpPr/>
          <p:nvPr/>
        </p:nvSpPr>
        <p:spPr>
          <a:xfrm>
            <a:off x="3825464" y="5221632"/>
            <a:ext cx="1135815" cy="1688944"/>
          </a:xfrm>
          <a:custGeom>
            <a:avLst/>
            <a:gdLst/>
            <a:ahLst/>
            <a:cxnLst/>
            <a:rect l="l" t="t" r="r" b="b"/>
            <a:pathLst>
              <a:path w="1135815" h="1688944">
                <a:moveTo>
                  <a:pt x="0" y="0"/>
                </a:moveTo>
                <a:lnTo>
                  <a:pt x="1135815" y="0"/>
                </a:lnTo>
                <a:lnTo>
                  <a:pt x="1135815" y="1688944"/>
                </a:lnTo>
                <a:lnTo>
                  <a:pt x="0" y="168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1" name="Freeform 71"/>
          <p:cNvSpPr/>
          <p:nvPr/>
        </p:nvSpPr>
        <p:spPr>
          <a:xfrm>
            <a:off x="8215538" y="5096430"/>
            <a:ext cx="2691545" cy="1688944"/>
          </a:xfrm>
          <a:custGeom>
            <a:avLst/>
            <a:gdLst/>
            <a:ahLst/>
            <a:cxnLst/>
            <a:rect l="l" t="t" r="r" b="b"/>
            <a:pathLst>
              <a:path w="2691545" h="1688944">
                <a:moveTo>
                  <a:pt x="0" y="0"/>
                </a:moveTo>
                <a:lnTo>
                  <a:pt x="2691545" y="0"/>
                </a:lnTo>
                <a:lnTo>
                  <a:pt x="2691545" y="1688944"/>
                </a:lnTo>
                <a:lnTo>
                  <a:pt x="0" y="1688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2" name="Freeform 72"/>
          <p:cNvSpPr/>
          <p:nvPr/>
        </p:nvSpPr>
        <p:spPr>
          <a:xfrm>
            <a:off x="13255991" y="5096430"/>
            <a:ext cx="2160298" cy="1724311"/>
          </a:xfrm>
          <a:custGeom>
            <a:avLst/>
            <a:gdLst/>
            <a:ahLst/>
            <a:cxnLst/>
            <a:rect l="l" t="t" r="r" b="b"/>
            <a:pathLst>
              <a:path w="2160298" h="1724311">
                <a:moveTo>
                  <a:pt x="0" y="0"/>
                </a:moveTo>
                <a:lnTo>
                  <a:pt x="2160298" y="0"/>
                </a:lnTo>
                <a:lnTo>
                  <a:pt x="2160298" y="1724310"/>
                </a:lnTo>
                <a:lnTo>
                  <a:pt x="0" y="1724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3" name="TextBox 73"/>
          <p:cNvSpPr txBox="1"/>
          <p:nvPr/>
        </p:nvSpPr>
        <p:spPr>
          <a:xfrm>
            <a:off x="1363548" y="1420398"/>
            <a:ext cx="1030824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5"/>
              </a:lnSpc>
            </a:pPr>
            <a:r>
              <a:rPr lang="en-US" sz="4625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586550" y="1461674"/>
            <a:ext cx="6110274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600"/>
              </a:lnSpc>
              <a:defRPr/>
            </a:pPr>
            <a:r>
              <a:rPr lang="en-US" sz="4000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 배경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187695" y="7922001"/>
            <a:ext cx="14354122" cy="467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F2E47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고령화가 빠르게 진행되는 사회에서 노년층  삶의 질을 향상시키기 위한 다양한 지원이 요구됨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215538" y="2236921"/>
            <a:ext cx="6816684" cy="7063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600"/>
              </a:lnSpc>
              <a:defRPr/>
            </a:pPr>
            <a:r>
              <a:rPr lang="en-US" sz="4000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문제 인식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937219" y="4298078"/>
            <a:ext cx="285507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경제적 어려움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2131436" y="4072324"/>
            <a:ext cx="4214951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지역 기반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정보 접근성 부족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013341" y="4072324"/>
            <a:ext cx="4760061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은퇴 노인의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심리·사회적 어려움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2" y="4654503"/>
            <a:ext cx="6869633" cy="9461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492"/>
              </a:lnSpc>
              <a:defRPr/>
            </a:pPr>
            <a:r>
              <a:rPr lang="en-US" sz="6514" b="1" spc="-214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다각적 문제 분석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2F2E47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72462" y="4611175"/>
            <a:ext cx="6241609" cy="3872278"/>
            <a:chOff x="0" y="0"/>
            <a:chExt cx="1664860" cy="10328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4860" cy="1032875"/>
            </a:xfrm>
            <a:custGeom>
              <a:avLst/>
              <a:gdLst/>
              <a:ahLst/>
              <a:cxnLst/>
              <a:rect l="l" t="t" r="r" b="b"/>
              <a:pathLst>
                <a:path w="1664860" h="1032875">
                  <a:moveTo>
                    <a:pt x="0" y="0"/>
                  </a:moveTo>
                  <a:lnTo>
                    <a:pt x="1664860" y="0"/>
                  </a:lnTo>
                  <a:lnTo>
                    <a:pt x="1664860" y="1032875"/>
                  </a:lnTo>
                  <a:lnTo>
                    <a:pt x="0" y="10328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64860" cy="108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72462" y="4629286"/>
            <a:ext cx="4369780" cy="702845"/>
            <a:chOff x="0" y="0"/>
            <a:chExt cx="1165577" cy="1874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5577" cy="187474"/>
            </a:xfrm>
            <a:custGeom>
              <a:avLst/>
              <a:gdLst/>
              <a:ahLst/>
              <a:cxnLst/>
              <a:rect l="l" t="t" r="r" b="b"/>
              <a:pathLst>
                <a:path w="1165577" h="187474">
                  <a:moveTo>
                    <a:pt x="0" y="0"/>
                  </a:moveTo>
                  <a:lnTo>
                    <a:pt x="1165577" y="0"/>
                  </a:lnTo>
                  <a:lnTo>
                    <a:pt x="1165577" y="187474"/>
                  </a:lnTo>
                  <a:lnTo>
                    <a:pt x="0" y="187474"/>
                  </a:lnTo>
                  <a:close/>
                </a:path>
              </a:pathLst>
            </a:custGeom>
            <a:solidFill>
              <a:srgbClr val="9BA0BB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65577" cy="23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9" name="Group 9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777478" y="4001612"/>
            <a:ext cx="14705839" cy="4782348"/>
            <a:chOff x="0" y="0"/>
            <a:chExt cx="3922573" cy="12756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22573" cy="1275623"/>
            </a:xfrm>
            <a:custGeom>
              <a:avLst/>
              <a:gdLst/>
              <a:ahLst/>
              <a:cxnLst/>
              <a:rect l="l" t="t" r="r" b="b"/>
              <a:pathLst>
                <a:path w="3922573" h="1275623">
                  <a:moveTo>
                    <a:pt x="2632" y="0"/>
                  </a:moveTo>
                  <a:lnTo>
                    <a:pt x="3919941" y="0"/>
                  </a:lnTo>
                  <a:cubicBezTo>
                    <a:pt x="3921395" y="0"/>
                    <a:pt x="3922573" y="1179"/>
                    <a:pt x="3922573" y="2632"/>
                  </a:cubicBezTo>
                  <a:lnTo>
                    <a:pt x="3922573" y="1272991"/>
                  </a:lnTo>
                  <a:cubicBezTo>
                    <a:pt x="3922573" y="1274445"/>
                    <a:pt x="3921395" y="1275623"/>
                    <a:pt x="3919941" y="1275623"/>
                  </a:cubicBezTo>
                  <a:lnTo>
                    <a:pt x="2632" y="1275623"/>
                  </a:lnTo>
                  <a:cubicBezTo>
                    <a:pt x="1179" y="1275623"/>
                    <a:pt x="0" y="1274445"/>
                    <a:pt x="0" y="1272991"/>
                  </a:cubicBezTo>
                  <a:lnTo>
                    <a:pt x="0" y="2632"/>
                  </a:lnTo>
                  <a:cubicBezTo>
                    <a:pt x="0" y="1179"/>
                    <a:pt x="1179" y="0"/>
                    <a:pt x="263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922573" cy="1323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77478" y="3029775"/>
            <a:ext cx="4369780" cy="702845"/>
            <a:chOff x="0" y="0"/>
            <a:chExt cx="1165577" cy="1874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65577" cy="187474"/>
            </a:xfrm>
            <a:custGeom>
              <a:avLst/>
              <a:gdLst/>
              <a:ahLst/>
              <a:cxnLst/>
              <a:rect l="l" t="t" r="r" b="b"/>
              <a:pathLst>
                <a:path w="1165577" h="187474">
                  <a:moveTo>
                    <a:pt x="0" y="0"/>
                  </a:moveTo>
                  <a:lnTo>
                    <a:pt x="1165577" y="0"/>
                  </a:lnTo>
                  <a:lnTo>
                    <a:pt x="1165577" y="187474"/>
                  </a:lnTo>
                  <a:lnTo>
                    <a:pt x="0" y="187474"/>
                  </a:lnTo>
                  <a:close/>
                </a:path>
              </a:pathLst>
            </a:custGeom>
            <a:solidFill>
              <a:srgbClr val="BEC3DB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65577" cy="23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26810" y="1408652"/>
            <a:ext cx="1337285" cy="804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48144" y="1471199"/>
            <a:ext cx="11694098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다각적 문제 분석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32949" y="3076398"/>
            <a:ext cx="38588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D4569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은퇴 노인(취미)의 관점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28" name="Group 28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52" name="AutoShape 52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76" name="TextBox 76"/>
          <p:cNvSpPr txBox="1"/>
          <p:nvPr/>
        </p:nvSpPr>
        <p:spPr>
          <a:xfrm>
            <a:off x="2081019" y="4618445"/>
            <a:ext cx="14498440" cy="3665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은퇴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이후에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많은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노인들이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가장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먼저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겪는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문제는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latin typeface="윤고딕"/>
                <a:ea typeface="윤고딕"/>
                <a:cs typeface="윤고딕"/>
                <a:sym typeface="윤고딕"/>
              </a:rPr>
              <a:t>정체성</a:t>
            </a:r>
            <a:r>
              <a:rPr lang="en-US" sz="2600" dirty="0"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latin typeface="윤고딕"/>
                <a:ea typeface="윤고딕"/>
                <a:cs typeface="윤고딕"/>
                <a:sym typeface="윤고딕"/>
              </a:rPr>
              <a:t>상실과</a:t>
            </a:r>
            <a:r>
              <a:rPr lang="en-US" sz="2600" dirty="0"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latin typeface="윤고딕"/>
                <a:ea typeface="윤고딕"/>
                <a:cs typeface="윤고딕"/>
                <a:sym typeface="윤고딕"/>
              </a:rPr>
              <a:t>고립</a:t>
            </a:r>
            <a:endParaRPr lang="en-US" sz="2600" dirty="0"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취미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활동은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단순한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여가를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넘어선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개념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.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현실적으로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지역별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프로그램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정보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분산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참여비용과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이동문제로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원하는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활동을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찾지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못하</a:t>
            </a:r>
            <a:r>
              <a:rPr lang="ko-KR" alt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는 문제 </a:t>
            </a:r>
            <a:endParaRPr lang="en-US" altLang="ko-KR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디지털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플랫폼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기반의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취미,커뮤니티가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늘고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있지만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노년층의</a:t>
            </a:r>
            <a:r>
              <a:rPr lang="en-US" sz="2600" dirty="0"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디지털</a:t>
            </a:r>
            <a:r>
              <a:rPr lang="en-US" sz="2600" dirty="0"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리터러시</a:t>
            </a:r>
            <a:r>
              <a:rPr lang="en-US" sz="2600" dirty="0"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격차</a:t>
            </a:r>
            <a:r>
              <a:rPr lang="en-US" sz="2600" dirty="0"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때문에</a:t>
            </a: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온라인으로만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모집되는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프로그램은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접근성이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떨어짐</a:t>
            </a: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72462" y="4611175"/>
            <a:ext cx="6241609" cy="3872278"/>
            <a:chOff x="0" y="0"/>
            <a:chExt cx="1664860" cy="10328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4860" cy="1032875"/>
            </a:xfrm>
            <a:custGeom>
              <a:avLst/>
              <a:gdLst/>
              <a:ahLst/>
              <a:cxnLst/>
              <a:rect l="l" t="t" r="r" b="b"/>
              <a:pathLst>
                <a:path w="1664860" h="1032875">
                  <a:moveTo>
                    <a:pt x="0" y="0"/>
                  </a:moveTo>
                  <a:lnTo>
                    <a:pt x="1664860" y="0"/>
                  </a:lnTo>
                  <a:lnTo>
                    <a:pt x="1664860" y="1032875"/>
                  </a:lnTo>
                  <a:lnTo>
                    <a:pt x="0" y="10328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64860" cy="108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72462" y="4629286"/>
            <a:ext cx="4369780" cy="702845"/>
            <a:chOff x="0" y="0"/>
            <a:chExt cx="1165577" cy="1874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5577" cy="187474"/>
            </a:xfrm>
            <a:custGeom>
              <a:avLst/>
              <a:gdLst/>
              <a:ahLst/>
              <a:cxnLst/>
              <a:rect l="l" t="t" r="r" b="b"/>
              <a:pathLst>
                <a:path w="1165577" h="187474">
                  <a:moveTo>
                    <a:pt x="0" y="0"/>
                  </a:moveTo>
                  <a:lnTo>
                    <a:pt x="1165577" y="0"/>
                  </a:lnTo>
                  <a:lnTo>
                    <a:pt x="1165577" y="187474"/>
                  </a:lnTo>
                  <a:lnTo>
                    <a:pt x="0" y="187474"/>
                  </a:lnTo>
                  <a:close/>
                </a:path>
              </a:pathLst>
            </a:custGeom>
            <a:solidFill>
              <a:srgbClr val="9BA0BB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65577" cy="23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9" name="Group 9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777478" y="4027471"/>
            <a:ext cx="14705839" cy="4782348"/>
            <a:chOff x="0" y="0"/>
            <a:chExt cx="3922573" cy="12756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22573" cy="1275623"/>
            </a:xfrm>
            <a:custGeom>
              <a:avLst/>
              <a:gdLst/>
              <a:ahLst/>
              <a:cxnLst/>
              <a:rect l="l" t="t" r="r" b="b"/>
              <a:pathLst>
                <a:path w="3922573" h="1275623">
                  <a:moveTo>
                    <a:pt x="6844" y="0"/>
                  </a:moveTo>
                  <a:lnTo>
                    <a:pt x="3915730" y="0"/>
                  </a:lnTo>
                  <a:cubicBezTo>
                    <a:pt x="3917545" y="0"/>
                    <a:pt x="3919285" y="721"/>
                    <a:pt x="3920569" y="2005"/>
                  </a:cubicBezTo>
                  <a:cubicBezTo>
                    <a:pt x="3921852" y="3288"/>
                    <a:pt x="3922573" y="5029"/>
                    <a:pt x="3922573" y="6844"/>
                  </a:cubicBezTo>
                  <a:lnTo>
                    <a:pt x="3922573" y="1268780"/>
                  </a:lnTo>
                  <a:cubicBezTo>
                    <a:pt x="3922573" y="1270595"/>
                    <a:pt x="3921852" y="1272335"/>
                    <a:pt x="3920569" y="1273619"/>
                  </a:cubicBezTo>
                  <a:cubicBezTo>
                    <a:pt x="3919285" y="1274902"/>
                    <a:pt x="3917545" y="1275623"/>
                    <a:pt x="3915730" y="1275623"/>
                  </a:cubicBezTo>
                  <a:lnTo>
                    <a:pt x="6844" y="1275623"/>
                  </a:lnTo>
                  <a:cubicBezTo>
                    <a:pt x="5029" y="1275623"/>
                    <a:pt x="3288" y="1274902"/>
                    <a:pt x="2005" y="1273619"/>
                  </a:cubicBezTo>
                  <a:cubicBezTo>
                    <a:pt x="721" y="1272335"/>
                    <a:pt x="0" y="1270595"/>
                    <a:pt x="0" y="1268780"/>
                  </a:cubicBezTo>
                  <a:lnTo>
                    <a:pt x="0" y="6844"/>
                  </a:lnTo>
                  <a:cubicBezTo>
                    <a:pt x="0" y="5029"/>
                    <a:pt x="721" y="3288"/>
                    <a:pt x="2005" y="2005"/>
                  </a:cubicBezTo>
                  <a:cubicBezTo>
                    <a:pt x="3288" y="721"/>
                    <a:pt x="5029" y="0"/>
                    <a:pt x="684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922573" cy="1323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77478" y="3081401"/>
            <a:ext cx="4369780" cy="702845"/>
            <a:chOff x="0" y="0"/>
            <a:chExt cx="1165577" cy="1874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65577" cy="187474"/>
            </a:xfrm>
            <a:custGeom>
              <a:avLst/>
              <a:gdLst/>
              <a:ahLst/>
              <a:cxnLst/>
              <a:rect l="l" t="t" r="r" b="b"/>
              <a:pathLst>
                <a:path w="1165577" h="187474">
                  <a:moveTo>
                    <a:pt x="0" y="0"/>
                  </a:moveTo>
                  <a:lnTo>
                    <a:pt x="1165577" y="0"/>
                  </a:lnTo>
                  <a:lnTo>
                    <a:pt x="1165577" y="187474"/>
                  </a:lnTo>
                  <a:lnTo>
                    <a:pt x="0" y="187474"/>
                  </a:lnTo>
                  <a:close/>
                </a:path>
              </a:pathLst>
            </a:custGeom>
            <a:solidFill>
              <a:srgbClr val="BEC3DB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65577" cy="23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43131" y="1367377"/>
            <a:ext cx="1337285" cy="887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80416" y="1471199"/>
            <a:ext cx="11694098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다각적 문제 분석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11773" y="3128023"/>
            <a:ext cx="4260427" cy="53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4200"/>
              </a:lnSpc>
              <a:defRPr/>
            </a:pPr>
            <a:r>
              <a:rPr lang="en-US" sz="3000">
                <a:solidFill>
                  <a:srgbClr val="3D4569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은퇴 노인(일자리)의 관점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28" name="Group 28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52" name="AutoShape 52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76" name="TextBox 76"/>
          <p:cNvSpPr txBox="1"/>
          <p:nvPr/>
        </p:nvSpPr>
        <p:spPr>
          <a:xfrm>
            <a:off x="2081019" y="4794315"/>
            <a:ext cx="14402298" cy="319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은퇴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이후의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노인들은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소득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일부를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보충하고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싶거나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일상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루틴을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만들기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위해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가벼운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일거리를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희망</a:t>
            </a: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플랫폼은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반복적이고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체력요구도가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높은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업무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위주의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공고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.</a:t>
            </a: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실제로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하고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싶은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일거리와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시스템이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제공하는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일자리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간 </a:t>
            </a:r>
            <a:r>
              <a:rPr lang="en-US" sz="2600" u="sng" dirty="0" err="1">
                <a:solidFill>
                  <a:srgbClr val="91983E"/>
                </a:solidFill>
                <a:latin typeface="윤고딕"/>
                <a:ea typeface="윤고딕"/>
                <a:cs typeface="윤고딕"/>
                <a:sym typeface="윤고딕"/>
              </a:rPr>
              <a:t>미스매치</a:t>
            </a:r>
            <a:r>
              <a:rPr lang="en-US" sz="2600" u="sng" dirty="0">
                <a:solidFill>
                  <a:srgbClr val="91983E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u="sng" dirty="0" err="1">
                <a:solidFill>
                  <a:srgbClr val="91983E"/>
                </a:solidFill>
                <a:latin typeface="윤고딕"/>
                <a:ea typeface="윤고딕"/>
                <a:cs typeface="윤고딕"/>
                <a:sym typeface="윤고딕"/>
              </a:rPr>
              <a:t>발생</a:t>
            </a:r>
            <a:endParaRPr lang="en-US" sz="2600" u="sng" dirty="0">
              <a:solidFill>
                <a:srgbClr val="91983E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u="sng" dirty="0">
              <a:solidFill>
                <a:srgbClr val="91983E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휴대폰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인증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본인인증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등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절차가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복잡해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가족이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도와주지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않으면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사실상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불가능한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상황이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발생</a:t>
            </a: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본인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의지는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있지만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절차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때문에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포기하는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경우</a:t>
            </a:r>
            <a:r>
              <a:rPr lang="en-US" sz="2600" dirty="0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대다수</a:t>
            </a:r>
            <a:endParaRPr lang="en-US" sz="2600" dirty="0">
              <a:solidFill>
                <a:srgbClr val="000000"/>
              </a:solidFill>
              <a:highlight>
                <a:srgbClr val="FFFF00"/>
              </a:highlight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72462" y="4611175"/>
            <a:ext cx="6241609" cy="3872278"/>
            <a:chOff x="0" y="0"/>
            <a:chExt cx="1664860" cy="10328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4860" cy="1032875"/>
            </a:xfrm>
            <a:custGeom>
              <a:avLst/>
              <a:gdLst/>
              <a:ahLst/>
              <a:cxnLst/>
              <a:rect l="l" t="t" r="r" b="b"/>
              <a:pathLst>
                <a:path w="1664860" h="1032875">
                  <a:moveTo>
                    <a:pt x="0" y="0"/>
                  </a:moveTo>
                  <a:lnTo>
                    <a:pt x="1664860" y="0"/>
                  </a:lnTo>
                  <a:lnTo>
                    <a:pt x="1664860" y="1032875"/>
                  </a:lnTo>
                  <a:lnTo>
                    <a:pt x="0" y="10328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64860" cy="108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72462" y="4629286"/>
            <a:ext cx="4369780" cy="702845"/>
            <a:chOff x="0" y="0"/>
            <a:chExt cx="1165577" cy="1874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5577" cy="187474"/>
            </a:xfrm>
            <a:custGeom>
              <a:avLst/>
              <a:gdLst/>
              <a:ahLst/>
              <a:cxnLst/>
              <a:rect l="l" t="t" r="r" b="b"/>
              <a:pathLst>
                <a:path w="1165577" h="187474">
                  <a:moveTo>
                    <a:pt x="0" y="0"/>
                  </a:moveTo>
                  <a:lnTo>
                    <a:pt x="1165577" y="0"/>
                  </a:lnTo>
                  <a:lnTo>
                    <a:pt x="1165577" y="187474"/>
                  </a:lnTo>
                  <a:lnTo>
                    <a:pt x="0" y="187474"/>
                  </a:lnTo>
                  <a:close/>
                </a:path>
              </a:pathLst>
            </a:custGeom>
            <a:solidFill>
              <a:srgbClr val="9BA0BB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65577" cy="23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6097" y="838519"/>
            <a:ext cx="16435806" cy="8766225"/>
            <a:chOff x="0" y="0"/>
            <a:chExt cx="21914407" cy="11688300"/>
          </a:xfrm>
        </p:grpSpPr>
        <p:grpSp>
          <p:nvGrpSpPr>
            <p:cNvPr id="9" name="Group 9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777478" y="4030825"/>
            <a:ext cx="14705839" cy="4782348"/>
            <a:chOff x="0" y="0"/>
            <a:chExt cx="3922573" cy="12756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22573" cy="1275623"/>
            </a:xfrm>
            <a:custGeom>
              <a:avLst/>
              <a:gdLst/>
              <a:ahLst/>
              <a:cxnLst/>
              <a:rect l="l" t="t" r="r" b="b"/>
              <a:pathLst>
                <a:path w="3922573" h="1275623">
                  <a:moveTo>
                    <a:pt x="6844" y="0"/>
                  </a:moveTo>
                  <a:lnTo>
                    <a:pt x="3915730" y="0"/>
                  </a:lnTo>
                  <a:cubicBezTo>
                    <a:pt x="3917545" y="0"/>
                    <a:pt x="3919285" y="721"/>
                    <a:pt x="3920569" y="2005"/>
                  </a:cubicBezTo>
                  <a:cubicBezTo>
                    <a:pt x="3921852" y="3288"/>
                    <a:pt x="3922573" y="5029"/>
                    <a:pt x="3922573" y="6844"/>
                  </a:cubicBezTo>
                  <a:lnTo>
                    <a:pt x="3922573" y="1268780"/>
                  </a:lnTo>
                  <a:cubicBezTo>
                    <a:pt x="3922573" y="1270595"/>
                    <a:pt x="3921852" y="1272335"/>
                    <a:pt x="3920569" y="1273619"/>
                  </a:cubicBezTo>
                  <a:cubicBezTo>
                    <a:pt x="3919285" y="1274902"/>
                    <a:pt x="3917545" y="1275623"/>
                    <a:pt x="3915730" y="1275623"/>
                  </a:cubicBezTo>
                  <a:lnTo>
                    <a:pt x="6844" y="1275623"/>
                  </a:lnTo>
                  <a:cubicBezTo>
                    <a:pt x="5029" y="1275623"/>
                    <a:pt x="3288" y="1274902"/>
                    <a:pt x="2005" y="1273619"/>
                  </a:cubicBezTo>
                  <a:cubicBezTo>
                    <a:pt x="721" y="1272335"/>
                    <a:pt x="0" y="1270595"/>
                    <a:pt x="0" y="1268780"/>
                  </a:cubicBezTo>
                  <a:lnTo>
                    <a:pt x="0" y="6844"/>
                  </a:lnTo>
                  <a:cubicBezTo>
                    <a:pt x="0" y="5029"/>
                    <a:pt x="721" y="3288"/>
                    <a:pt x="2005" y="2005"/>
                  </a:cubicBezTo>
                  <a:cubicBezTo>
                    <a:pt x="3288" y="721"/>
                    <a:pt x="5029" y="0"/>
                    <a:pt x="684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922573" cy="1323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77478" y="3152598"/>
            <a:ext cx="4369780" cy="702845"/>
            <a:chOff x="0" y="0"/>
            <a:chExt cx="1165577" cy="1874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65577" cy="187474"/>
            </a:xfrm>
            <a:custGeom>
              <a:avLst/>
              <a:gdLst/>
              <a:ahLst/>
              <a:cxnLst/>
              <a:rect l="l" t="t" r="r" b="b"/>
              <a:pathLst>
                <a:path w="1165577" h="187474">
                  <a:moveTo>
                    <a:pt x="0" y="0"/>
                  </a:moveTo>
                  <a:lnTo>
                    <a:pt x="1165577" y="0"/>
                  </a:lnTo>
                  <a:lnTo>
                    <a:pt x="1165577" y="187474"/>
                  </a:lnTo>
                  <a:lnTo>
                    <a:pt x="0" y="187474"/>
                  </a:lnTo>
                  <a:close/>
                </a:path>
              </a:pathLst>
            </a:custGeom>
            <a:solidFill>
              <a:srgbClr val="BEC3DB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65577" cy="23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26810" y="1366106"/>
            <a:ext cx="1337285" cy="880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80416" y="1471199"/>
            <a:ext cx="11694098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다각적 문제 분석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64095" y="3199220"/>
            <a:ext cx="2755073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D4569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가족의 관점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28" name="Group 28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52" name="AutoShape 52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76" name="TextBox 76"/>
          <p:cNvSpPr txBox="1"/>
          <p:nvPr/>
        </p:nvSpPr>
        <p:spPr>
          <a:xfrm>
            <a:off x="1911773" y="4703168"/>
            <a:ext cx="14402298" cy="366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+mn-ea"/>
              <a:cs typeface="윤고딕"/>
              <a:sym typeface="윤고딕"/>
            </a:endParaRPr>
          </a:p>
          <a:p>
            <a:pPr>
              <a:lnSpc>
                <a:spcPts val="3640"/>
              </a:lnSpc>
            </a:pPr>
            <a:r>
              <a:rPr lang="ko-KR" altLang="en-US" sz="2600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가족들은 부모님의 고독</a:t>
            </a:r>
            <a:r>
              <a:rPr lang="en-US" altLang="ko-KR" sz="2600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, </a:t>
            </a:r>
            <a:r>
              <a:rPr lang="ko-KR" altLang="en-US" sz="2600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무기력감</a:t>
            </a:r>
            <a:r>
              <a:rPr lang="en-US" altLang="ko-KR" sz="2600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, </a:t>
            </a:r>
            <a:r>
              <a:rPr lang="ko-KR" altLang="en-US" sz="2600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건강 악화 등을 걱정하지만 정작 적절한 활동이나 정보를 대신 찾아주는 데에도 </a:t>
            </a:r>
            <a:r>
              <a:rPr lang="ko-KR" altLang="en-US" sz="2600" dirty="0">
                <a:solidFill>
                  <a:srgbClr val="000000"/>
                </a:solidFill>
                <a:highlight>
                  <a:srgbClr val="FFFF00"/>
                </a:highlight>
                <a:latin typeface="+mn-ea"/>
                <a:cs typeface="윤고딕"/>
                <a:sym typeface="윤고딕"/>
              </a:rPr>
              <a:t>많은 시간과 노력이 필요</a:t>
            </a:r>
            <a:r>
              <a:rPr lang="en-US" altLang="ko-KR" sz="2600" dirty="0">
                <a:solidFill>
                  <a:srgbClr val="000000"/>
                </a:solidFill>
                <a:latin typeface="+mn-ea"/>
                <a:cs typeface="윤고딕"/>
                <a:sym typeface="윤고딕"/>
              </a:rPr>
              <a:t>.</a:t>
            </a:r>
          </a:p>
          <a:p>
            <a:pPr>
              <a:lnSpc>
                <a:spcPts val="3640"/>
              </a:lnSpc>
            </a:pPr>
            <a:endParaRPr lang="en-US" altLang="ko-KR" sz="2600" dirty="0">
              <a:solidFill>
                <a:srgbClr val="000000"/>
              </a:solidFill>
              <a:latin typeface="+mn-ea"/>
              <a:cs typeface="윤고딕"/>
              <a:sym typeface="윤고딕"/>
            </a:endParaRPr>
          </a:p>
          <a:p>
            <a:pPr>
              <a:lnSpc>
                <a:spcPts val="3640"/>
              </a:lnSpc>
            </a:pPr>
            <a:r>
              <a:rPr lang="ko-KR" altLang="en-US" sz="2400" dirty="0"/>
              <a:t>어떤 활동이 도움이 될지 자체를 파악하기 어렵고</a:t>
            </a:r>
            <a:r>
              <a:rPr lang="en-US" altLang="ko-KR" sz="2400" dirty="0"/>
              <a:t>, </a:t>
            </a:r>
            <a:r>
              <a:rPr lang="ko-KR" altLang="en-US" sz="2400" dirty="0"/>
              <a:t>프로그램 정보를 알아내더라도 신청 절차가 복잡하거나 알아보고 예약까지 연결되는 과정이 이어지지 </a:t>
            </a:r>
            <a:r>
              <a:rPr lang="ko-KR" altLang="en-US" sz="2400" dirty="0">
                <a:highlight>
                  <a:srgbClr val="FFFF00"/>
                </a:highlight>
              </a:rPr>
              <a:t>않아 가족이 대신 신청해드리는 것도 쉽지 않은 상황</a:t>
            </a:r>
            <a:endParaRPr lang="en-US" altLang="ko-KR" sz="2400" dirty="0">
              <a:highlight>
                <a:srgbClr val="FFFF00"/>
              </a:highlight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+mn-ea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72462" y="4611175"/>
            <a:ext cx="6241609" cy="3872278"/>
            <a:chOff x="0" y="0"/>
            <a:chExt cx="1664860" cy="10328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4860" cy="1032875"/>
            </a:xfrm>
            <a:custGeom>
              <a:avLst/>
              <a:gdLst/>
              <a:ahLst/>
              <a:cxnLst/>
              <a:rect l="l" t="t" r="r" b="b"/>
              <a:pathLst>
                <a:path w="1664860" h="1032875">
                  <a:moveTo>
                    <a:pt x="0" y="0"/>
                  </a:moveTo>
                  <a:lnTo>
                    <a:pt x="1664860" y="0"/>
                  </a:lnTo>
                  <a:lnTo>
                    <a:pt x="1664860" y="1032875"/>
                  </a:lnTo>
                  <a:lnTo>
                    <a:pt x="0" y="10328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64860" cy="108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72462" y="4629286"/>
            <a:ext cx="4369780" cy="702845"/>
            <a:chOff x="0" y="0"/>
            <a:chExt cx="1165577" cy="1874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65577" cy="187474"/>
            </a:xfrm>
            <a:custGeom>
              <a:avLst/>
              <a:gdLst/>
              <a:ahLst/>
              <a:cxnLst/>
              <a:rect l="l" t="t" r="r" b="b"/>
              <a:pathLst>
                <a:path w="1165577" h="187474">
                  <a:moveTo>
                    <a:pt x="0" y="0"/>
                  </a:moveTo>
                  <a:lnTo>
                    <a:pt x="1165577" y="0"/>
                  </a:lnTo>
                  <a:lnTo>
                    <a:pt x="1165577" y="187474"/>
                  </a:lnTo>
                  <a:lnTo>
                    <a:pt x="0" y="187474"/>
                  </a:lnTo>
                  <a:close/>
                </a:path>
              </a:pathLst>
            </a:custGeom>
            <a:solidFill>
              <a:srgbClr val="9BA0BB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65577" cy="23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9" name="Group 9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777478" y="4030825"/>
            <a:ext cx="14705839" cy="4782348"/>
            <a:chOff x="0" y="0"/>
            <a:chExt cx="3922573" cy="12756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22573" cy="1275623"/>
            </a:xfrm>
            <a:custGeom>
              <a:avLst/>
              <a:gdLst/>
              <a:ahLst/>
              <a:cxnLst/>
              <a:rect l="l" t="t" r="r" b="b"/>
              <a:pathLst>
                <a:path w="3922573" h="1275623">
                  <a:moveTo>
                    <a:pt x="6844" y="0"/>
                  </a:moveTo>
                  <a:lnTo>
                    <a:pt x="3915730" y="0"/>
                  </a:lnTo>
                  <a:cubicBezTo>
                    <a:pt x="3917545" y="0"/>
                    <a:pt x="3919285" y="721"/>
                    <a:pt x="3920569" y="2005"/>
                  </a:cubicBezTo>
                  <a:cubicBezTo>
                    <a:pt x="3921852" y="3288"/>
                    <a:pt x="3922573" y="5029"/>
                    <a:pt x="3922573" y="6844"/>
                  </a:cubicBezTo>
                  <a:lnTo>
                    <a:pt x="3922573" y="1268780"/>
                  </a:lnTo>
                  <a:cubicBezTo>
                    <a:pt x="3922573" y="1270595"/>
                    <a:pt x="3921852" y="1272335"/>
                    <a:pt x="3920569" y="1273619"/>
                  </a:cubicBezTo>
                  <a:cubicBezTo>
                    <a:pt x="3919285" y="1274902"/>
                    <a:pt x="3917545" y="1275623"/>
                    <a:pt x="3915730" y="1275623"/>
                  </a:cubicBezTo>
                  <a:lnTo>
                    <a:pt x="6844" y="1275623"/>
                  </a:lnTo>
                  <a:cubicBezTo>
                    <a:pt x="5029" y="1275623"/>
                    <a:pt x="3288" y="1274902"/>
                    <a:pt x="2005" y="1273619"/>
                  </a:cubicBezTo>
                  <a:cubicBezTo>
                    <a:pt x="721" y="1272335"/>
                    <a:pt x="0" y="1270595"/>
                    <a:pt x="0" y="1268780"/>
                  </a:cubicBezTo>
                  <a:lnTo>
                    <a:pt x="0" y="6844"/>
                  </a:lnTo>
                  <a:cubicBezTo>
                    <a:pt x="0" y="5029"/>
                    <a:pt x="721" y="3288"/>
                    <a:pt x="2005" y="2005"/>
                  </a:cubicBezTo>
                  <a:cubicBezTo>
                    <a:pt x="3288" y="721"/>
                    <a:pt x="5029" y="0"/>
                    <a:pt x="6844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922573" cy="1323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77478" y="3152598"/>
            <a:ext cx="4369780" cy="702845"/>
            <a:chOff x="0" y="0"/>
            <a:chExt cx="1165577" cy="1874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65577" cy="187474"/>
            </a:xfrm>
            <a:custGeom>
              <a:avLst/>
              <a:gdLst/>
              <a:ahLst/>
              <a:cxnLst/>
              <a:rect l="l" t="t" r="r" b="b"/>
              <a:pathLst>
                <a:path w="1165577" h="187474">
                  <a:moveTo>
                    <a:pt x="0" y="0"/>
                  </a:moveTo>
                  <a:lnTo>
                    <a:pt x="1165577" y="0"/>
                  </a:lnTo>
                  <a:lnTo>
                    <a:pt x="1165577" y="187474"/>
                  </a:lnTo>
                  <a:lnTo>
                    <a:pt x="0" y="187474"/>
                  </a:lnTo>
                  <a:close/>
                </a:path>
              </a:pathLst>
            </a:custGeom>
            <a:solidFill>
              <a:srgbClr val="BEC3DB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65577" cy="23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75582" y="1328324"/>
            <a:ext cx="1337285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80416" y="1471199"/>
            <a:ext cx="11694098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다각적 문제 분석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20786" y="3199220"/>
            <a:ext cx="3483163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D4569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정부.지자체의 관점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28" name="Group 28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52" name="AutoShape 52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76" name="TextBox 76"/>
          <p:cNvSpPr txBox="1"/>
          <p:nvPr/>
        </p:nvSpPr>
        <p:spPr>
          <a:xfrm>
            <a:off x="1929248" y="4522385"/>
            <a:ext cx="14402298" cy="551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정부.지자체는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인구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고령화에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대응해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‘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사회참여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확대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’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라는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목표를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가지고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있음</a:t>
            </a: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이미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지방자치단체는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u="sng" dirty="0" err="1">
                <a:latin typeface="윤고딕"/>
                <a:ea typeface="윤고딕"/>
                <a:cs typeface="윤고딕"/>
                <a:sym typeface="윤고딕"/>
              </a:rPr>
              <a:t>시니어</a:t>
            </a:r>
            <a:r>
              <a:rPr lang="en-US" sz="2600" u="sng" dirty="0"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u="sng" dirty="0" err="1">
                <a:latin typeface="윤고딕"/>
                <a:ea typeface="윤고딕"/>
                <a:cs typeface="윤고딕"/>
                <a:sym typeface="윤고딕"/>
              </a:rPr>
              <a:t>고용</a:t>
            </a:r>
            <a:r>
              <a:rPr lang="en-US" sz="2600" u="sng" dirty="0"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u="sng" dirty="0" err="1">
                <a:latin typeface="윤고딕"/>
                <a:ea typeface="윤고딕"/>
                <a:cs typeface="윤고딕"/>
                <a:sym typeface="윤고딕"/>
              </a:rPr>
              <a:t>지원</a:t>
            </a:r>
            <a:r>
              <a:rPr lang="en-US" sz="2600" u="sng" dirty="0"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600" u="sng" dirty="0" err="1">
                <a:latin typeface="윤고딕"/>
                <a:ea typeface="윤고딕"/>
                <a:cs typeface="윤고딕"/>
                <a:sym typeface="윤고딕"/>
              </a:rPr>
              <a:t>지역</a:t>
            </a:r>
            <a:r>
              <a:rPr lang="en-US" sz="2600" u="sng" dirty="0"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u="sng" dirty="0" err="1">
                <a:latin typeface="윤고딕"/>
                <a:ea typeface="윤고딕"/>
                <a:cs typeface="윤고딕"/>
                <a:sym typeface="윤고딕"/>
              </a:rPr>
              <a:t>커뮤니티</a:t>
            </a:r>
            <a:r>
              <a:rPr lang="en-US" sz="2600" u="sng" dirty="0"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u="sng" dirty="0" err="1">
                <a:latin typeface="윤고딕"/>
                <a:ea typeface="윤고딕"/>
                <a:cs typeface="윤고딕"/>
                <a:sym typeface="윤고딕"/>
              </a:rPr>
              <a:t>센터</a:t>
            </a:r>
            <a:r>
              <a:rPr lang="en-US" sz="2600" u="sng" dirty="0"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u="sng" dirty="0" err="1">
                <a:latin typeface="윤고딕"/>
                <a:ea typeface="윤고딕"/>
                <a:cs typeface="윤고딕"/>
                <a:sym typeface="윤고딕"/>
              </a:rPr>
              <a:t>활성화</a:t>
            </a:r>
            <a:r>
              <a:rPr lang="en-US" sz="2600" u="sng" dirty="0"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600" u="sng" dirty="0" err="1">
                <a:latin typeface="윤고딕"/>
                <a:ea typeface="윤고딕"/>
                <a:cs typeface="윤고딕"/>
                <a:sym typeface="윤고딕"/>
              </a:rPr>
              <a:t>평생교육</a:t>
            </a:r>
            <a:r>
              <a:rPr lang="en-US" sz="2600" u="sng" dirty="0"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u="sng" dirty="0" err="1">
                <a:latin typeface="윤고딕"/>
                <a:ea typeface="윤고딕"/>
                <a:cs typeface="윤고딕"/>
                <a:sym typeface="윤고딕"/>
              </a:rPr>
              <a:t>강좌제공</a:t>
            </a:r>
            <a:r>
              <a:rPr lang="en-US" sz="2600" dirty="0"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등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여러가지</a:t>
            </a: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프로그램을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운영하지만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프로그램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간의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연계성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또는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ko-KR" alt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정보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접근성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보완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미흡이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지적</a:t>
            </a:r>
            <a:r>
              <a:rPr lang="ko-KR" alt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됨</a:t>
            </a:r>
            <a:r>
              <a:rPr lang="en-US" sz="2600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.</a:t>
            </a: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r>
              <a:rPr lang="ko-KR" altLang="en-US" sz="2600" dirty="0">
                <a:solidFill>
                  <a:srgbClr val="000000"/>
                </a:solidFill>
                <a:highlight>
                  <a:srgbClr val="FFFF00"/>
                </a:highlight>
                <a:latin typeface="윤고딕"/>
                <a:ea typeface="윤고딕"/>
                <a:cs typeface="윤고딕"/>
                <a:sym typeface="윤고딕"/>
              </a:rPr>
              <a:t>제공되는 서비스와 이용자 사이에 연결이 원활하게 이루어지지 않는 문제</a:t>
            </a:r>
            <a:endParaRPr lang="en-US" sz="2600" dirty="0">
              <a:solidFill>
                <a:srgbClr val="000000"/>
              </a:solidFill>
              <a:highlight>
                <a:srgbClr val="FFFF00"/>
              </a:highlight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640"/>
              </a:lnSpc>
            </a:pPr>
            <a:endParaRPr lang="en-US" sz="2600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2F2E47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42039" y="4653233"/>
            <a:ext cx="13735049" cy="94746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492"/>
              </a:lnSpc>
              <a:defRPr/>
            </a:pPr>
            <a:r>
              <a:rPr lang="en-US" sz="6514" b="1" spc="-214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기존 서비스와 한계점 분석 및 차별점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7FF58-A89D-FF5D-D11E-4B200FF46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F252AA6-D9F0-C399-EEEC-E15661E1206E}"/>
              </a:ext>
            </a:extLst>
          </p:cNvPr>
          <p:cNvGrpSpPr/>
          <p:nvPr/>
        </p:nvGrpSpPr>
        <p:grpSpPr>
          <a:xfrm>
            <a:off x="920841" y="550974"/>
            <a:ext cx="16435806" cy="8947052"/>
            <a:chOff x="0" y="-241102"/>
            <a:chExt cx="21914407" cy="11929402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C2E843B-410D-4901-4515-6616B4F1A276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32B01A8-D5FD-C739-2DA3-CFBB4A8C340C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6E413FFE-CC9D-CC38-9F04-A164141E40B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A3F28BD5-F1F6-A6C5-9ECD-13CA1561F3ED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61CC2A75-913F-6000-476F-B0B92806CAC7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F78E210-659E-198A-9335-1C437CB774D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9349B14-FE29-231A-7CD0-F2199EF1BCB1}"/>
                </a:ext>
              </a:extLst>
            </p:cNvPr>
            <p:cNvGrpSpPr/>
            <p:nvPr/>
          </p:nvGrpSpPr>
          <p:grpSpPr>
            <a:xfrm>
              <a:off x="0" y="-241102"/>
              <a:ext cx="21786504" cy="11753856"/>
              <a:chOff x="0" y="-47625"/>
              <a:chExt cx="4303507" cy="232174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B89212D-827F-834D-B41B-161AAEC3B73B}"/>
                  </a:ext>
                </a:extLst>
              </p:cNvPr>
              <p:cNvSpPr/>
              <p:nvPr/>
            </p:nvSpPr>
            <p:spPr>
              <a:xfrm>
                <a:off x="28781" y="16613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3D364D9-2EE4-BF0D-FCC2-8CD8F341E23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C19A540C-AE3B-91AE-95E4-39A52807A8A6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7A9690E2-D22F-BF88-66B4-8E6906A0C13E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F2AD3498-DB29-5531-9214-17AC18C4C232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" name="TextBox 22">
                <a:extLst>
                  <a:ext uri="{FF2B5EF4-FFF2-40B4-BE49-F238E27FC236}">
                    <a16:creationId xmlns:a16="http://schemas.microsoft.com/office/drawing/2014/main" id="{CC763AEE-3640-6593-E220-A56DC1FD307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3" name="Group 23">
              <a:extLst>
                <a:ext uri="{FF2B5EF4-FFF2-40B4-BE49-F238E27FC236}">
                  <a16:creationId xmlns:a16="http://schemas.microsoft.com/office/drawing/2014/main" id="{D96B2BA0-5447-7A19-89D0-57F7F210D81E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24" name="Freeform 24">
                <a:extLst>
                  <a:ext uri="{FF2B5EF4-FFF2-40B4-BE49-F238E27FC236}">
                    <a16:creationId xmlns:a16="http://schemas.microsoft.com/office/drawing/2014/main" id="{D34FF3CA-0C59-7786-6779-2A0E842D3E5C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>
                <a:extLst>
                  <a:ext uri="{FF2B5EF4-FFF2-40B4-BE49-F238E27FC236}">
                    <a16:creationId xmlns:a16="http://schemas.microsoft.com/office/drawing/2014/main" id="{BC91E62A-7859-0AC2-647C-B6CE793B472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E0FD383B-B998-5045-ACCF-2F2DBD23FC78}"/>
                </a:ext>
              </a:extLst>
            </p:cNvPr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7" name="Freeform 27">
                <a:extLst>
                  <a:ext uri="{FF2B5EF4-FFF2-40B4-BE49-F238E27FC236}">
                    <a16:creationId xmlns:a16="http://schemas.microsoft.com/office/drawing/2014/main" id="{5A1F8FCE-90B3-A68B-5BFF-2C459D383395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>
                <a:extLst>
                  <a:ext uri="{FF2B5EF4-FFF2-40B4-BE49-F238E27FC236}">
                    <a16:creationId xmlns:a16="http://schemas.microsoft.com/office/drawing/2014/main" id="{86599E38-02B2-ECB0-85AE-0F7B22059EB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9" name="Group 29">
              <a:extLst>
                <a:ext uri="{FF2B5EF4-FFF2-40B4-BE49-F238E27FC236}">
                  <a16:creationId xmlns:a16="http://schemas.microsoft.com/office/drawing/2014/main" id="{84A5F400-C5C0-DA8C-06AD-BF8C2A3C02E0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30" name="Freeform 30">
                <a:extLst>
                  <a:ext uri="{FF2B5EF4-FFF2-40B4-BE49-F238E27FC236}">
                    <a16:creationId xmlns:a16="http://schemas.microsoft.com/office/drawing/2014/main" id="{8CDC2B93-5453-F254-CEC4-8D1C444399CE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>
                <a:extLst>
                  <a:ext uri="{FF2B5EF4-FFF2-40B4-BE49-F238E27FC236}">
                    <a16:creationId xmlns:a16="http://schemas.microsoft.com/office/drawing/2014/main" id="{83E0B054-3A79-C995-AF11-3832AAF19F9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2" name="Group 32">
              <a:extLst>
                <a:ext uri="{FF2B5EF4-FFF2-40B4-BE49-F238E27FC236}">
                  <a16:creationId xmlns:a16="http://schemas.microsoft.com/office/drawing/2014/main" id="{D1DE305F-305F-9D4C-CDC6-FD57B5216454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33" name="Freeform 33">
                <a:extLst>
                  <a:ext uri="{FF2B5EF4-FFF2-40B4-BE49-F238E27FC236}">
                    <a16:creationId xmlns:a16="http://schemas.microsoft.com/office/drawing/2014/main" id="{B0A9C302-CA00-64C4-21BF-11469196EDA8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7A618CB9-958B-58E8-97E2-D4EE09C4FA5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5" name="Group 35">
              <a:extLst>
                <a:ext uri="{FF2B5EF4-FFF2-40B4-BE49-F238E27FC236}">
                  <a16:creationId xmlns:a16="http://schemas.microsoft.com/office/drawing/2014/main" id="{9F107F63-A8A2-ECF9-DDD9-434EB50AC999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36" name="Freeform 36">
                <a:extLst>
                  <a:ext uri="{FF2B5EF4-FFF2-40B4-BE49-F238E27FC236}">
                    <a16:creationId xmlns:a16="http://schemas.microsoft.com/office/drawing/2014/main" id="{1E035C86-224C-B065-2A2B-BDDE14BEE549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>
                <a:extLst>
                  <a:ext uri="{FF2B5EF4-FFF2-40B4-BE49-F238E27FC236}">
                    <a16:creationId xmlns:a16="http://schemas.microsoft.com/office/drawing/2014/main" id="{B25402E5-1059-D6B6-6010-656E115A0D8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8" name="Group 38">
              <a:extLst>
                <a:ext uri="{FF2B5EF4-FFF2-40B4-BE49-F238E27FC236}">
                  <a16:creationId xmlns:a16="http://schemas.microsoft.com/office/drawing/2014/main" id="{4239F88E-AABA-77F3-BF4A-49E26217000A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9" name="Freeform 39">
                <a:extLst>
                  <a:ext uri="{FF2B5EF4-FFF2-40B4-BE49-F238E27FC236}">
                    <a16:creationId xmlns:a16="http://schemas.microsoft.com/office/drawing/2014/main" id="{CC12F6FB-56C9-1229-A5EA-D8D4A698CAD1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Box 40">
                <a:extLst>
                  <a:ext uri="{FF2B5EF4-FFF2-40B4-BE49-F238E27FC236}">
                    <a16:creationId xmlns:a16="http://schemas.microsoft.com/office/drawing/2014/main" id="{83FC43FE-90EC-5CF2-520B-54474914353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1" name="Group 41">
              <a:extLst>
                <a:ext uri="{FF2B5EF4-FFF2-40B4-BE49-F238E27FC236}">
                  <a16:creationId xmlns:a16="http://schemas.microsoft.com/office/drawing/2014/main" id="{CED79AD0-BE0A-1272-FB24-F74B5F9E2299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42" name="Freeform 42">
                <a:extLst>
                  <a:ext uri="{FF2B5EF4-FFF2-40B4-BE49-F238E27FC236}">
                    <a16:creationId xmlns:a16="http://schemas.microsoft.com/office/drawing/2014/main" id="{3C60AAA5-0380-F1E0-4C4C-7CFE1C22E98B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" name="TextBox 43">
                <a:extLst>
                  <a:ext uri="{FF2B5EF4-FFF2-40B4-BE49-F238E27FC236}">
                    <a16:creationId xmlns:a16="http://schemas.microsoft.com/office/drawing/2014/main" id="{339C5835-22C1-2801-2630-340B2A1B6B7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44" name="AutoShape 44">
              <a:extLst>
                <a:ext uri="{FF2B5EF4-FFF2-40B4-BE49-F238E27FC236}">
                  <a16:creationId xmlns:a16="http://schemas.microsoft.com/office/drawing/2014/main" id="{9A5992BF-1D27-4EDD-D166-27D023317EA2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AutoShape 45">
              <a:extLst>
                <a:ext uri="{FF2B5EF4-FFF2-40B4-BE49-F238E27FC236}">
                  <a16:creationId xmlns:a16="http://schemas.microsoft.com/office/drawing/2014/main" id="{18037080-6A42-052B-43BC-17C5F14BCDDF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AutoShape 46">
              <a:extLst>
                <a:ext uri="{FF2B5EF4-FFF2-40B4-BE49-F238E27FC236}">
                  <a16:creationId xmlns:a16="http://schemas.microsoft.com/office/drawing/2014/main" id="{0C16B0DF-24D9-93FA-CCCD-8467A334C1D8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7" name="Group 47">
              <a:extLst>
                <a:ext uri="{FF2B5EF4-FFF2-40B4-BE49-F238E27FC236}">
                  <a16:creationId xmlns:a16="http://schemas.microsoft.com/office/drawing/2014/main" id="{089411CF-3C89-0CC4-D553-D9D6ABED030F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8" name="Freeform 48">
                <a:extLst>
                  <a:ext uri="{FF2B5EF4-FFF2-40B4-BE49-F238E27FC236}">
                    <a16:creationId xmlns:a16="http://schemas.microsoft.com/office/drawing/2014/main" id="{04B61712-ACBA-7C1B-DF69-4CF762A2A93D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9" name="TextBox 49">
                <a:extLst>
                  <a:ext uri="{FF2B5EF4-FFF2-40B4-BE49-F238E27FC236}">
                    <a16:creationId xmlns:a16="http://schemas.microsoft.com/office/drawing/2014/main" id="{7C561123-E33B-5D40-69FC-CB2066363C3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0" name="Group 50">
              <a:extLst>
                <a:ext uri="{FF2B5EF4-FFF2-40B4-BE49-F238E27FC236}">
                  <a16:creationId xmlns:a16="http://schemas.microsoft.com/office/drawing/2014/main" id="{727A3E4E-8B55-3917-21D6-79E42C3B893E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51" name="Freeform 51">
                <a:extLst>
                  <a:ext uri="{FF2B5EF4-FFF2-40B4-BE49-F238E27FC236}">
                    <a16:creationId xmlns:a16="http://schemas.microsoft.com/office/drawing/2014/main" id="{08AD7391-D728-4D22-CF70-93D9F6BB8D71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Box 52">
                <a:extLst>
                  <a:ext uri="{FF2B5EF4-FFF2-40B4-BE49-F238E27FC236}">
                    <a16:creationId xmlns:a16="http://schemas.microsoft.com/office/drawing/2014/main" id="{0506F597-1D6C-98E5-7C12-0AC2577C989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3" name="Group 53">
              <a:extLst>
                <a:ext uri="{FF2B5EF4-FFF2-40B4-BE49-F238E27FC236}">
                  <a16:creationId xmlns:a16="http://schemas.microsoft.com/office/drawing/2014/main" id="{8B056553-67E6-D84A-5DEE-55AB3FC86B99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54" name="Freeform 54">
                <a:extLst>
                  <a:ext uri="{FF2B5EF4-FFF2-40B4-BE49-F238E27FC236}">
                    <a16:creationId xmlns:a16="http://schemas.microsoft.com/office/drawing/2014/main" id="{129E92AA-65D4-734C-4453-35D39E26CDB1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>
                <a:extLst>
                  <a:ext uri="{FF2B5EF4-FFF2-40B4-BE49-F238E27FC236}">
                    <a16:creationId xmlns:a16="http://schemas.microsoft.com/office/drawing/2014/main" id="{D74862BE-DA46-016C-D9EA-2DCD3216B9B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6" name="Group 56">
              <a:extLst>
                <a:ext uri="{FF2B5EF4-FFF2-40B4-BE49-F238E27FC236}">
                  <a16:creationId xmlns:a16="http://schemas.microsoft.com/office/drawing/2014/main" id="{4AF0E6F3-2AFE-E3FA-F56D-16247F2965E3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7" name="Freeform 57">
                <a:extLst>
                  <a:ext uri="{FF2B5EF4-FFF2-40B4-BE49-F238E27FC236}">
                    <a16:creationId xmlns:a16="http://schemas.microsoft.com/office/drawing/2014/main" id="{29026008-A349-7E61-5D9E-267890F89F20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>
                <a:extLst>
                  <a:ext uri="{FF2B5EF4-FFF2-40B4-BE49-F238E27FC236}">
                    <a16:creationId xmlns:a16="http://schemas.microsoft.com/office/drawing/2014/main" id="{262B4416-6988-A12B-19C2-8C666717668F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9" name="Group 59">
              <a:extLst>
                <a:ext uri="{FF2B5EF4-FFF2-40B4-BE49-F238E27FC236}">
                  <a16:creationId xmlns:a16="http://schemas.microsoft.com/office/drawing/2014/main" id="{892D5A75-C487-0CAD-593F-2CC59E48A75F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60" name="Freeform 60">
                <a:extLst>
                  <a:ext uri="{FF2B5EF4-FFF2-40B4-BE49-F238E27FC236}">
                    <a16:creationId xmlns:a16="http://schemas.microsoft.com/office/drawing/2014/main" id="{BCC8F4B5-C5B9-7724-0B14-52EA0DC4CFC1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TextBox 61">
                <a:extLst>
                  <a:ext uri="{FF2B5EF4-FFF2-40B4-BE49-F238E27FC236}">
                    <a16:creationId xmlns:a16="http://schemas.microsoft.com/office/drawing/2014/main" id="{AE21EE61-620A-098B-1520-139787208CF6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2" name="Group 62">
              <a:extLst>
                <a:ext uri="{FF2B5EF4-FFF2-40B4-BE49-F238E27FC236}">
                  <a16:creationId xmlns:a16="http://schemas.microsoft.com/office/drawing/2014/main" id="{B33B1D8F-4FF1-506D-28C2-FF48FA042E53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63" name="Freeform 63">
                <a:extLst>
                  <a:ext uri="{FF2B5EF4-FFF2-40B4-BE49-F238E27FC236}">
                    <a16:creationId xmlns:a16="http://schemas.microsoft.com/office/drawing/2014/main" id="{91061EF2-90B7-C68D-5AA9-7E16A6F69596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Box 64">
                <a:extLst>
                  <a:ext uri="{FF2B5EF4-FFF2-40B4-BE49-F238E27FC236}">
                    <a16:creationId xmlns:a16="http://schemas.microsoft.com/office/drawing/2014/main" id="{7DBB90F8-111F-8667-90C9-EA6A15C53EAC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5" name="Group 65">
              <a:extLst>
                <a:ext uri="{FF2B5EF4-FFF2-40B4-BE49-F238E27FC236}">
                  <a16:creationId xmlns:a16="http://schemas.microsoft.com/office/drawing/2014/main" id="{7FA36D45-34F7-676A-41DA-69E5DA322DE5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66" name="Freeform 66">
                <a:extLst>
                  <a:ext uri="{FF2B5EF4-FFF2-40B4-BE49-F238E27FC236}">
                    <a16:creationId xmlns:a16="http://schemas.microsoft.com/office/drawing/2014/main" id="{A0F4A3D1-CF27-047D-8E21-0D3B74F1A0F3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7" name="TextBox 67">
                <a:extLst>
                  <a:ext uri="{FF2B5EF4-FFF2-40B4-BE49-F238E27FC236}">
                    <a16:creationId xmlns:a16="http://schemas.microsoft.com/office/drawing/2014/main" id="{316C91AF-2E4B-E2C5-71B3-F66100EB0A15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72" name="Freeform 72">
            <a:extLst>
              <a:ext uri="{FF2B5EF4-FFF2-40B4-BE49-F238E27FC236}">
                <a16:creationId xmlns:a16="http://schemas.microsoft.com/office/drawing/2014/main" id="{B1304482-8F92-2E75-9C8C-98DB1CC3B4A9}"/>
              </a:ext>
            </a:extLst>
          </p:cNvPr>
          <p:cNvSpPr/>
          <p:nvPr/>
        </p:nvSpPr>
        <p:spPr>
          <a:xfrm>
            <a:off x="1558801" y="2609852"/>
            <a:ext cx="3317999" cy="3524248"/>
          </a:xfrm>
          <a:custGeom>
            <a:avLst/>
            <a:gdLst/>
            <a:ahLst/>
            <a:cxnLst/>
            <a:rect l="l" t="t" r="r" b="b"/>
            <a:pathLst>
              <a:path w="4627191" h="2617277">
                <a:moveTo>
                  <a:pt x="0" y="0"/>
                </a:moveTo>
                <a:lnTo>
                  <a:pt x="4627190" y="0"/>
                </a:lnTo>
                <a:lnTo>
                  <a:pt x="4627190" y="2617277"/>
                </a:lnTo>
                <a:lnTo>
                  <a:pt x="0" y="2617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81" b="-981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Freeform 73">
            <a:extLst>
              <a:ext uri="{FF2B5EF4-FFF2-40B4-BE49-F238E27FC236}">
                <a16:creationId xmlns:a16="http://schemas.microsoft.com/office/drawing/2014/main" id="{903A11B7-5098-9912-EA96-D4E6EE027A1B}"/>
              </a:ext>
            </a:extLst>
          </p:cNvPr>
          <p:cNvSpPr/>
          <p:nvPr/>
        </p:nvSpPr>
        <p:spPr>
          <a:xfrm>
            <a:off x="3567779" y="3702282"/>
            <a:ext cx="3318000" cy="3346218"/>
          </a:xfrm>
          <a:custGeom>
            <a:avLst/>
            <a:gdLst/>
            <a:ahLst/>
            <a:cxnLst/>
            <a:rect l="l" t="t" r="r" b="b"/>
            <a:pathLst>
              <a:path w="4841631" h="2617277">
                <a:moveTo>
                  <a:pt x="0" y="0"/>
                </a:moveTo>
                <a:lnTo>
                  <a:pt x="4841631" y="0"/>
                </a:lnTo>
                <a:lnTo>
                  <a:pt x="4841631" y="2617277"/>
                </a:lnTo>
                <a:lnTo>
                  <a:pt x="0" y="2617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31" t="-2927" r="-3415"/>
            </a:stretch>
          </a:blipFill>
          <a:ln w="38100" cap="sq">
            <a:solidFill>
              <a:srgbClr val="343D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45349B9B-C4BB-7D8B-A8B9-16ACB30BE935}"/>
              </a:ext>
            </a:extLst>
          </p:cNvPr>
          <p:cNvSpPr txBox="1"/>
          <p:nvPr/>
        </p:nvSpPr>
        <p:spPr>
          <a:xfrm>
            <a:off x="1243131" y="129161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2355BA2-B32C-F022-31D8-A154C1BA6B33}"/>
              </a:ext>
            </a:extLst>
          </p:cNvPr>
          <p:cNvSpPr txBox="1"/>
          <p:nvPr/>
        </p:nvSpPr>
        <p:spPr>
          <a:xfrm>
            <a:off x="2403813" y="1471199"/>
            <a:ext cx="16497293" cy="7643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6390"/>
              </a:lnSpc>
              <a:defRPr/>
            </a:pPr>
            <a:r>
              <a:rPr lang="en-US" sz="4564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기존</a:t>
            </a:r>
            <a:r>
              <a:rPr lang="en-US" sz="4564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4564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서비스와</a:t>
            </a:r>
            <a:r>
              <a:rPr lang="en-US" sz="4564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4564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한계점</a:t>
            </a:r>
            <a:r>
              <a:rPr lang="en-US" sz="4564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및 </a:t>
            </a:r>
            <a:r>
              <a:rPr lang="en-US" sz="4564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분석</a:t>
            </a:r>
            <a:r>
              <a:rPr lang="en-US" sz="4564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9F0E6E3B-9EB7-DB02-2881-C075362B5895}"/>
              </a:ext>
            </a:extLst>
          </p:cNvPr>
          <p:cNvGrpSpPr/>
          <p:nvPr/>
        </p:nvGrpSpPr>
        <p:grpSpPr>
          <a:xfrm>
            <a:off x="13341345" y="5355577"/>
            <a:ext cx="296518" cy="296518"/>
            <a:chOff x="0" y="0"/>
            <a:chExt cx="812800" cy="812800"/>
          </a:xfrm>
        </p:grpSpPr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981DEF10-429F-3FA0-2102-4750C1BD94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313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TextBox 83">
              <a:extLst>
                <a:ext uri="{FF2B5EF4-FFF2-40B4-BE49-F238E27FC236}">
                  <a16:creationId xmlns:a16="http://schemas.microsoft.com/office/drawing/2014/main" id="{1B89FEB8-AF62-834F-5D4C-EA4935831855}"/>
                </a:ext>
              </a:extLst>
            </p:cNvPr>
            <p:cNvSpPr txBox="1"/>
            <p:nvPr/>
          </p:nvSpPr>
          <p:spPr>
            <a:xfrm>
              <a:off x="203200" y="53975"/>
              <a:ext cx="406400" cy="758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7" name="TextBox 87">
            <a:extLst>
              <a:ext uri="{FF2B5EF4-FFF2-40B4-BE49-F238E27FC236}">
                <a16:creationId xmlns:a16="http://schemas.microsoft.com/office/drawing/2014/main" id="{BF69114E-6C16-6CB9-39DA-879794560F9F}"/>
              </a:ext>
            </a:extLst>
          </p:cNvPr>
          <p:cNvSpPr txBox="1"/>
          <p:nvPr/>
        </p:nvSpPr>
        <p:spPr>
          <a:xfrm>
            <a:off x="1842044" y="7919791"/>
            <a:ext cx="6769470" cy="2430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399"/>
              </a:lnSpc>
              <a:defRPr/>
            </a:pPr>
            <a:r>
              <a:rPr lang="en-US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</a:t>
            </a:r>
            <a:r>
              <a:rPr lang="en-US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복지로</a:t>
            </a:r>
            <a:r>
              <a:rPr lang="en-US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노인일자리</a:t>
            </a:r>
            <a:r>
              <a:rPr lang="en-US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사업</a:t>
            </a:r>
            <a:r>
              <a:rPr lang="en-US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신청</a:t>
            </a:r>
            <a:r>
              <a:rPr lang="en-US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페이지</a:t>
            </a:r>
            <a:r>
              <a:rPr lang="en-US" sz="24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]</a:t>
            </a:r>
            <a:r>
              <a:rPr lang="en-US" sz="32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999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)</a:t>
            </a:r>
          </a:p>
        </p:txBody>
      </p:sp>
      <p:sp>
        <p:nvSpPr>
          <p:cNvPr id="88" name="Freeform 68">
            <a:extLst>
              <a:ext uri="{FF2B5EF4-FFF2-40B4-BE49-F238E27FC236}">
                <a16:creationId xmlns:a16="http://schemas.microsoft.com/office/drawing/2014/main" id="{B753238B-8715-9843-D944-52DDE3739C4D}"/>
              </a:ext>
            </a:extLst>
          </p:cNvPr>
          <p:cNvSpPr/>
          <p:nvPr/>
        </p:nvSpPr>
        <p:spPr>
          <a:xfrm>
            <a:off x="7807236" y="2676938"/>
            <a:ext cx="3629146" cy="4271931"/>
          </a:xfrm>
          <a:custGeom>
            <a:avLst/>
            <a:gdLst/>
            <a:ahLst/>
            <a:cxnLst/>
            <a:rect l="l" t="t" r="r" b="b"/>
            <a:pathLst>
              <a:path w="5067534" h="4997855">
                <a:moveTo>
                  <a:pt x="0" y="0"/>
                </a:moveTo>
                <a:lnTo>
                  <a:pt x="5067534" y="0"/>
                </a:lnTo>
                <a:lnTo>
                  <a:pt x="5067534" y="4997855"/>
                </a:lnTo>
                <a:lnTo>
                  <a:pt x="0" y="4997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343D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D380C9B-B400-6DE7-C960-E273BF2686C4}"/>
              </a:ext>
            </a:extLst>
          </p:cNvPr>
          <p:cNvSpPr txBox="1"/>
          <p:nvPr/>
        </p:nvSpPr>
        <p:spPr>
          <a:xfrm>
            <a:off x="7807236" y="7810500"/>
            <a:ext cx="362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노인 일자리 여기 페이지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F22A4513-7D09-1799-E30B-EBCFE0359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50671" y="2984251"/>
            <a:ext cx="3791308" cy="3151163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B58FA9C1-9C26-5757-F2DF-35AF9950976E}"/>
              </a:ext>
            </a:extLst>
          </p:cNvPr>
          <p:cNvSpPr txBox="1"/>
          <p:nvPr/>
        </p:nvSpPr>
        <p:spPr>
          <a:xfrm>
            <a:off x="4725714" y="4726292"/>
            <a:ext cx="945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노인 일자리 여기 페이지</a:t>
            </a:r>
            <a:endParaRPr lang="ko-KR" altLang="en-US" dirty="0"/>
          </a:p>
        </p:txBody>
      </p:sp>
      <p:sp>
        <p:nvSpPr>
          <p:cNvPr id="97" name="TextBox 87">
            <a:extLst>
              <a:ext uri="{FF2B5EF4-FFF2-40B4-BE49-F238E27FC236}">
                <a16:creationId xmlns:a16="http://schemas.microsoft.com/office/drawing/2014/main" id="{B34FE5DB-357E-BA00-C45F-6A8806469ED4}"/>
              </a:ext>
            </a:extLst>
          </p:cNvPr>
          <p:cNvSpPr txBox="1"/>
          <p:nvPr/>
        </p:nvSpPr>
        <p:spPr>
          <a:xfrm>
            <a:off x="12725400" y="7877455"/>
            <a:ext cx="6769470" cy="2430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399"/>
              </a:lnSpc>
              <a:defRPr/>
            </a:pPr>
            <a:r>
              <a:rPr lang="en-US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</a:t>
            </a:r>
            <a:r>
              <a:rPr lang="ko-KR" altLang="en-US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강남구 문화원 취미</a:t>
            </a:r>
            <a:r>
              <a:rPr lang="en-US" altLang="ko-KR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ko-KR" altLang="en-US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여가 신청 페이지</a:t>
            </a:r>
            <a:r>
              <a:rPr lang="en-US" sz="2400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]</a:t>
            </a:r>
            <a:r>
              <a:rPr lang="en-US" sz="32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999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3814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433884" y="6294271"/>
            <a:ext cx="15527496" cy="2818412"/>
            <a:chOff x="0" y="0"/>
            <a:chExt cx="20703328" cy="375788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0459087" cy="1577950"/>
              <a:chOff x="0" y="0"/>
              <a:chExt cx="2065993" cy="31169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065992" cy="311694"/>
              </a:xfrm>
              <a:custGeom>
                <a:avLst/>
                <a:gdLst/>
                <a:ahLst/>
                <a:cxnLst/>
                <a:rect l="l" t="t" r="r" b="b"/>
                <a:pathLst>
                  <a:path w="2065992" h="311694">
                    <a:moveTo>
                      <a:pt x="8883" y="0"/>
                    </a:moveTo>
                    <a:lnTo>
                      <a:pt x="2057110" y="0"/>
                    </a:lnTo>
                    <a:cubicBezTo>
                      <a:pt x="2062016" y="0"/>
                      <a:pt x="2065992" y="3977"/>
                      <a:pt x="2065992" y="8883"/>
                    </a:cubicBezTo>
                    <a:lnTo>
                      <a:pt x="2065992" y="302811"/>
                    </a:lnTo>
                    <a:cubicBezTo>
                      <a:pt x="2065992" y="307717"/>
                      <a:pt x="2062016" y="311694"/>
                      <a:pt x="2057110" y="311694"/>
                    </a:cubicBezTo>
                    <a:lnTo>
                      <a:pt x="8883" y="311694"/>
                    </a:lnTo>
                    <a:cubicBezTo>
                      <a:pt x="3977" y="311694"/>
                      <a:pt x="0" y="307717"/>
                      <a:pt x="0" y="302811"/>
                    </a:cubicBezTo>
                    <a:lnTo>
                      <a:pt x="0" y="8883"/>
                    </a:lnTo>
                    <a:cubicBezTo>
                      <a:pt x="0" y="3977"/>
                      <a:pt x="3977" y="0"/>
                      <a:pt x="8883" y="0"/>
                    </a:cubicBezTo>
                    <a:close/>
                  </a:path>
                </a:pathLst>
              </a:custGeom>
              <a:solidFill>
                <a:srgbClr val="6F769C"/>
              </a:solidFill>
              <a:ln w="9525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2065993" cy="3593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1216678"/>
              <a:ext cx="20703328" cy="2541204"/>
              <a:chOff x="0" y="0"/>
              <a:chExt cx="4089546" cy="50196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89547" cy="501966"/>
              </a:xfrm>
              <a:custGeom>
                <a:avLst/>
                <a:gdLst/>
                <a:ahLst/>
                <a:cxnLst/>
                <a:rect l="l" t="t" r="r" b="b"/>
                <a:pathLst>
                  <a:path w="4089547" h="501966">
                    <a:moveTo>
                      <a:pt x="0" y="0"/>
                    </a:moveTo>
                    <a:lnTo>
                      <a:pt x="4089547" y="0"/>
                    </a:lnTo>
                    <a:lnTo>
                      <a:pt x="4089547" y="501966"/>
                    </a:lnTo>
                    <a:lnTo>
                      <a:pt x="0" y="501966"/>
                    </a:lnTo>
                    <a:close/>
                  </a:path>
                </a:pathLst>
              </a:custGeom>
              <a:solidFill>
                <a:srgbClr val="F2F5FF"/>
              </a:solidFill>
              <a:ln w="9525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4089546" cy="5495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20" name="Group 20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44" name="AutoShape 44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980630" y="3045999"/>
            <a:ext cx="16172996" cy="2972047"/>
            <a:chOff x="0" y="0"/>
            <a:chExt cx="4338272" cy="79722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338272" cy="797227"/>
            </a:xfrm>
            <a:custGeom>
              <a:avLst/>
              <a:gdLst/>
              <a:ahLst/>
              <a:cxnLst/>
              <a:rect l="l" t="t" r="r" b="b"/>
              <a:pathLst>
                <a:path w="4338272" h="797227">
                  <a:moveTo>
                    <a:pt x="0" y="0"/>
                  </a:moveTo>
                  <a:lnTo>
                    <a:pt x="4338272" y="0"/>
                  </a:lnTo>
                  <a:lnTo>
                    <a:pt x="4338272" y="797227"/>
                  </a:lnTo>
                  <a:lnTo>
                    <a:pt x="0" y="797227"/>
                  </a:lnTo>
                  <a:close/>
                </a:path>
              </a:pathLst>
            </a:custGeom>
            <a:solidFill>
              <a:srgbClr val="9BA0BB">
                <a:alpha val="41961"/>
              </a:srgbClr>
            </a:solidFill>
            <a:ln w="9525" cap="sq">
              <a:solidFill>
                <a:srgbClr val="3D4569">
                  <a:alpha val="41961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4338272" cy="844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1" name="Freeform 71"/>
          <p:cNvSpPr/>
          <p:nvPr/>
        </p:nvSpPr>
        <p:spPr>
          <a:xfrm>
            <a:off x="12177615" y="3240536"/>
            <a:ext cx="4627073" cy="2634605"/>
          </a:xfrm>
          <a:custGeom>
            <a:avLst/>
            <a:gdLst/>
            <a:ahLst/>
            <a:cxnLst/>
            <a:rect l="l" t="t" r="r" b="b"/>
            <a:pathLst>
              <a:path w="4627073" h="2634605">
                <a:moveTo>
                  <a:pt x="0" y="0"/>
                </a:moveTo>
                <a:lnTo>
                  <a:pt x="4627073" y="0"/>
                </a:lnTo>
                <a:lnTo>
                  <a:pt x="4627073" y="2634604"/>
                </a:lnTo>
                <a:lnTo>
                  <a:pt x="0" y="2634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473"/>
            </a:stretch>
          </a:blipFill>
          <a:ln w="38100" cap="sq">
            <a:solidFill>
              <a:srgbClr val="343D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Freeform 72"/>
          <p:cNvSpPr/>
          <p:nvPr/>
        </p:nvSpPr>
        <p:spPr>
          <a:xfrm>
            <a:off x="1410542" y="3240536"/>
            <a:ext cx="4627191" cy="2617277"/>
          </a:xfrm>
          <a:custGeom>
            <a:avLst/>
            <a:gdLst/>
            <a:ahLst/>
            <a:cxnLst/>
            <a:rect l="l" t="t" r="r" b="b"/>
            <a:pathLst>
              <a:path w="4627191" h="2617277">
                <a:moveTo>
                  <a:pt x="0" y="0"/>
                </a:moveTo>
                <a:lnTo>
                  <a:pt x="4627190" y="0"/>
                </a:lnTo>
                <a:lnTo>
                  <a:pt x="4627190" y="2617277"/>
                </a:lnTo>
                <a:lnTo>
                  <a:pt x="0" y="2617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81" b="-981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Freeform 73"/>
          <p:cNvSpPr/>
          <p:nvPr/>
        </p:nvSpPr>
        <p:spPr>
          <a:xfrm>
            <a:off x="6688284" y="3240536"/>
            <a:ext cx="4841631" cy="2617277"/>
          </a:xfrm>
          <a:custGeom>
            <a:avLst/>
            <a:gdLst/>
            <a:ahLst/>
            <a:cxnLst/>
            <a:rect l="l" t="t" r="r" b="b"/>
            <a:pathLst>
              <a:path w="4841631" h="2617277">
                <a:moveTo>
                  <a:pt x="0" y="0"/>
                </a:moveTo>
                <a:lnTo>
                  <a:pt x="4841631" y="0"/>
                </a:lnTo>
                <a:lnTo>
                  <a:pt x="4841631" y="2617277"/>
                </a:lnTo>
                <a:lnTo>
                  <a:pt x="0" y="2617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31" t="-2927" r="-3415"/>
            </a:stretch>
          </a:blipFill>
          <a:ln w="38100" cap="sq">
            <a:solidFill>
              <a:srgbClr val="343D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4" name="Group 74"/>
          <p:cNvGrpSpPr/>
          <p:nvPr/>
        </p:nvGrpSpPr>
        <p:grpSpPr>
          <a:xfrm>
            <a:off x="2580416" y="3485969"/>
            <a:ext cx="296518" cy="296518"/>
            <a:chOff x="0" y="0"/>
            <a:chExt cx="812800" cy="812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313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03200" y="53975"/>
              <a:ext cx="406400" cy="758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243131" y="129161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580416" y="6449535"/>
            <a:ext cx="5238769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UI 복잡 → 시니어 접근 불가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403813" y="1471199"/>
            <a:ext cx="16497293" cy="8052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6390"/>
              </a:lnSpc>
              <a:defRPr/>
            </a:pPr>
            <a:r>
              <a:rPr lang="en-US" sz="4564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기존 서비스와 한계점 및 분석 (</a:t>
            </a:r>
            <a:r>
              <a:rPr lang="en-US" sz="4564" b="1">
                <a:solidFill>
                  <a:srgbClr val="91983E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복지로</a:t>
            </a:r>
            <a:r>
              <a:rPr lang="en-US" sz="4564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626165" y="7416640"/>
            <a:ext cx="13609992" cy="152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대부분의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기존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일자리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취미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플랫폼은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기능이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너무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많고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화면구성이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복잡해서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</a:p>
          <a:p>
            <a:pPr algn="l">
              <a:lnSpc>
                <a:spcPts val="4185"/>
              </a:lnSpc>
            </a:pP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디지털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환경에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익숙하지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않은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시니어층이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원하는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정보를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스스로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탐색하기가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어렵다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.</a:t>
            </a:r>
          </a:p>
          <a:p>
            <a:pPr algn="l">
              <a:lnSpc>
                <a:spcPts val="4185"/>
              </a:lnSpc>
            </a:pP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버튼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크기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글씨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크기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등이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젊은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사용자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중심으로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설계되어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있어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진입장벽이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높다</a:t>
            </a:r>
            <a:r>
              <a:rPr lang="en-US" sz="22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.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13341345" y="5355577"/>
            <a:ext cx="296518" cy="296518"/>
            <a:chOff x="0" y="0"/>
            <a:chExt cx="812800" cy="812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313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03200" y="53975"/>
              <a:ext cx="406400" cy="758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431161" y="3934888"/>
            <a:ext cx="296518" cy="296518"/>
            <a:chOff x="0" y="0"/>
            <a:chExt cx="812800" cy="8128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313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03200" y="53975"/>
              <a:ext cx="406400" cy="758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9753600" y="6144424"/>
            <a:ext cx="6769470" cy="35162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399"/>
              </a:lnSpc>
              <a:defRPr/>
            </a:pPr>
            <a:r>
              <a:rPr lang="en-US" sz="9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[복지로 노인일자리 사업 신청 페이지] </a:t>
            </a:r>
          </a:p>
          <a:p>
            <a:pPr lvl="0" algn="l">
              <a:lnSpc>
                <a:spcPts val="1399"/>
              </a:lnSpc>
              <a:spcBef>
                <a:spcPct val="0"/>
              </a:spcBef>
              <a:defRPr/>
            </a:pPr>
            <a:r>
              <a:rPr lang="en-US" sz="9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노인 일자리 사업 신청 페이지를 직관적으로 찾기 힘듦(서비스 신청 클릭-&gt;민원 서비스 신청 클릭-&gt;노인 일자리 사업 클릭)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1243131" y="12679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64175" y="6276140"/>
            <a:ext cx="5238769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가족/복지사 대리 입력 기능 없음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580416" y="1471199"/>
            <a:ext cx="11199154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기존 서비스와 한계점 및 분석(</a:t>
            </a:r>
            <a:r>
              <a:rPr lang="en-US" sz="3999" b="1">
                <a:solidFill>
                  <a:srgbClr val="658C6A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복지로</a:t>
            </a: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</a:p>
        </p:txBody>
      </p:sp>
      <p:sp>
        <p:nvSpPr>
          <p:cNvPr id="64" name="Freeform 64"/>
          <p:cNvSpPr/>
          <p:nvPr/>
        </p:nvSpPr>
        <p:spPr>
          <a:xfrm>
            <a:off x="8319914" y="2918166"/>
            <a:ext cx="8615302" cy="5847636"/>
          </a:xfrm>
          <a:custGeom>
            <a:avLst/>
            <a:gdLst/>
            <a:ahLst/>
            <a:cxnLst/>
            <a:rect l="l" t="t" r="r" b="b"/>
            <a:pathLst>
              <a:path w="8615302" h="5847636">
                <a:moveTo>
                  <a:pt x="0" y="0"/>
                </a:moveTo>
                <a:lnTo>
                  <a:pt x="8615302" y="0"/>
                </a:lnTo>
                <a:lnTo>
                  <a:pt x="8615302" y="5847636"/>
                </a:lnTo>
                <a:lnTo>
                  <a:pt x="0" y="5847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343D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AutoShape 65"/>
          <p:cNvSpPr/>
          <p:nvPr/>
        </p:nvSpPr>
        <p:spPr>
          <a:xfrm>
            <a:off x="8823557" y="7992793"/>
            <a:ext cx="3956648" cy="0"/>
          </a:xfrm>
          <a:prstGeom prst="line">
            <a:avLst/>
          </a:prstGeom>
          <a:ln w="38100" cap="flat">
            <a:solidFill>
              <a:srgbClr val="FF3131">
                <a:alpha val="62745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AutoShape 66"/>
          <p:cNvSpPr/>
          <p:nvPr/>
        </p:nvSpPr>
        <p:spPr>
          <a:xfrm flipV="1">
            <a:off x="8823557" y="7827192"/>
            <a:ext cx="5258892" cy="0"/>
          </a:xfrm>
          <a:prstGeom prst="line">
            <a:avLst/>
          </a:prstGeom>
          <a:ln w="38100" cap="flat">
            <a:solidFill>
              <a:srgbClr val="FF3131">
                <a:alpha val="67843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7" name="Group 67"/>
          <p:cNvGrpSpPr/>
          <p:nvPr/>
        </p:nvGrpSpPr>
        <p:grpSpPr>
          <a:xfrm>
            <a:off x="1490893" y="3688475"/>
            <a:ext cx="6612780" cy="5077327"/>
            <a:chOff x="0" y="0"/>
            <a:chExt cx="1741637" cy="133723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741637" cy="1337238"/>
            </a:xfrm>
            <a:custGeom>
              <a:avLst/>
              <a:gdLst/>
              <a:ahLst/>
              <a:cxnLst/>
              <a:rect l="l" t="t" r="r" b="b"/>
              <a:pathLst>
                <a:path w="1741637" h="1337238">
                  <a:moveTo>
                    <a:pt x="11708" y="0"/>
                  </a:moveTo>
                  <a:lnTo>
                    <a:pt x="1729930" y="0"/>
                  </a:lnTo>
                  <a:cubicBezTo>
                    <a:pt x="1736396" y="0"/>
                    <a:pt x="1741637" y="5242"/>
                    <a:pt x="1741637" y="11708"/>
                  </a:cubicBezTo>
                  <a:lnTo>
                    <a:pt x="1741637" y="1325531"/>
                  </a:lnTo>
                  <a:cubicBezTo>
                    <a:pt x="1741637" y="1331997"/>
                    <a:pt x="1736396" y="1337238"/>
                    <a:pt x="1729930" y="1337238"/>
                  </a:cubicBezTo>
                  <a:lnTo>
                    <a:pt x="11708" y="1337238"/>
                  </a:lnTo>
                  <a:cubicBezTo>
                    <a:pt x="5242" y="1337238"/>
                    <a:pt x="0" y="1331997"/>
                    <a:pt x="0" y="1325531"/>
                  </a:cubicBezTo>
                  <a:lnTo>
                    <a:pt x="0" y="11708"/>
                  </a:lnTo>
                  <a:cubicBezTo>
                    <a:pt x="0" y="5242"/>
                    <a:pt x="5242" y="0"/>
                    <a:pt x="117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1741637" cy="1375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79"/>
                </a:lnSpc>
              </a:pPr>
              <a:endParaRPr/>
            </a:p>
            <a:p>
              <a:pPr algn="just">
                <a:lnSpc>
                  <a:spcPts val="3079"/>
                </a:lnSpc>
              </a:pPr>
              <a:r>
                <a:rPr lang="en-US" sz="2199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● 노인들이 직접 정보를 입력하기 어렵거나 인증 과정에서 자주 오류나 불편을 겪어 앱 활용률 떨어짐</a:t>
              </a:r>
            </a:p>
            <a:p>
              <a:pPr algn="just">
                <a:lnSpc>
                  <a:spcPts val="3079"/>
                </a:lnSpc>
              </a:pPr>
              <a:endParaRPr lang="en-US" sz="2199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  <a:p>
              <a:pPr algn="just">
                <a:lnSpc>
                  <a:spcPts val="3079"/>
                </a:lnSpc>
              </a:pPr>
              <a:r>
                <a:rPr lang="en-US" sz="2199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● 기존 서비스 대부분은 보호자,가족의 대리 입력 기능을 제공하지 않아서 초기 가입 과정에서부터</a:t>
              </a:r>
            </a:p>
            <a:p>
              <a:pPr algn="just">
                <a:lnSpc>
                  <a:spcPts val="3079"/>
                </a:lnSpc>
              </a:pPr>
              <a:r>
                <a:rPr lang="en-US" sz="2199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큰 어려움 발생</a:t>
              </a:r>
            </a:p>
            <a:p>
              <a:pPr algn="just">
                <a:lnSpc>
                  <a:spcPts val="3079"/>
                </a:lnSpc>
              </a:pPr>
              <a:endParaRPr lang="en-US" sz="2199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490893" y="2820599"/>
            <a:ext cx="4573990" cy="867774"/>
            <a:chOff x="0" y="0"/>
            <a:chExt cx="1204672" cy="228549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204672" cy="228549"/>
            </a:xfrm>
            <a:custGeom>
              <a:avLst/>
              <a:gdLst/>
              <a:ahLst/>
              <a:cxnLst/>
              <a:rect l="l" t="t" r="r" b="b"/>
              <a:pathLst>
                <a:path w="1204672" h="228549">
                  <a:moveTo>
                    <a:pt x="13541" y="0"/>
                  </a:moveTo>
                  <a:lnTo>
                    <a:pt x="1191131" y="0"/>
                  </a:lnTo>
                  <a:cubicBezTo>
                    <a:pt x="1198610" y="0"/>
                    <a:pt x="1204672" y="6062"/>
                    <a:pt x="1204672" y="13541"/>
                  </a:cubicBezTo>
                  <a:lnTo>
                    <a:pt x="1204672" y="215009"/>
                  </a:lnTo>
                  <a:cubicBezTo>
                    <a:pt x="1204672" y="218600"/>
                    <a:pt x="1203246" y="222044"/>
                    <a:pt x="1200706" y="224583"/>
                  </a:cubicBezTo>
                  <a:cubicBezTo>
                    <a:pt x="1198167" y="227123"/>
                    <a:pt x="1194723" y="228549"/>
                    <a:pt x="1191131" y="228549"/>
                  </a:cubicBezTo>
                  <a:lnTo>
                    <a:pt x="13541" y="228549"/>
                  </a:lnTo>
                  <a:cubicBezTo>
                    <a:pt x="9950" y="228549"/>
                    <a:pt x="6505" y="227123"/>
                    <a:pt x="3966" y="224583"/>
                  </a:cubicBezTo>
                  <a:cubicBezTo>
                    <a:pt x="1427" y="222044"/>
                    <a:pt x="0" y="218600"/>
                    <a:pt x="0" y="215009"/>
                  </a:cubicBezTo>
                  <a:lnTo>
                    <a:pt x="0" y="13541"/>
                  </a:lnTo>
                  <a:cubicBezTo>
                    <a:pt x="0" y="9950"/>
                    <a:pt x="1427" y="6505"/>
                    <a:pt x="3966" y="3966"/>
                  </a:cubicBezTo>
                  <a:cubicBezTo>
                    <a:pt x="6505" y="1427"/>
                    <a:pt x="9950" y="0"/>
                    <a:pt x="13541" y="0"/>
                  </a:cubicBezTo>
                  <a:close/>
                </a:path>
              </a:pathLst>
            </a:custGeom>
            <a:solidFill>
              <a:srgbClr val="4E567C"/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204672" cy="266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6F8FF"/>
                  </a:solidFill>
                  <a:latin typeface="윤고딕 Bold"/>
                  <a:ea typeface="윤고딕 Bold"/>
                  <a:cs typeface="윤고딕 Bold"/>
                  <a:sym typeface="윤고딕 Bold"/>
                </a:rPr>
                <a:t>가족/복지사 대리 입력 기능 없음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8305800" y="8861052"/>
            <a:ext cx="7153870" cy="1651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399"/>
              </a:lnSpc>
              <a:spcBef>
                <a:spcPct val="0"/>
              </a:spcBef>
              <a:defRPr/>
            </a:pPr>
            <a:r>
              <a:rPr lang="en-US" sz="9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[복지로 노인일자리 사업 신청 페이지]  노인 일자리 사업 신청 시 부모 이외의 보호자인 경우 온라인으로 신청 불가능하다는 문구가 뜬다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00100"/>
            <a:ext cx="16435806" cy="8766225"/>
            <a:chOff x="0" y="0"/>
            <a:chExt cx="21914408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2364175" y="6276140"/>
            <a:ext cx="5238769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가족/복지사 대리 입력 기능 없음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464059" y="3207918"/>
            <a:ext cx="6841741" cy="2720424"/>
            <a:chOff x="-7067" y="-126566"/>
            <a:chExt cx="1801940" cy="716490"/>
          </a:xfrm>
        </p:grpSpPr>
        <p:sp>
          <p:nvSpPr>
            <p:cNvPr id="63" name="Freeform 63"/>
            <p:cNvSpPr/>
            <p:nvPr/>
          </p:nvSpPr>
          <p:spPr>
            <a:xfrm>
              <a:off x="-7067" y="-126566"/>
              <a:ext cx="1801940" cy="670336"/>
            </a:xfrm>
            <a:custGeom>
              <a:avLst/>
              <a:gdLst/>
              <a:ahLst/>
              <a:cxnLst/>
              <a:rect l="l" t="t" r="r" b="b"/>
              <a:pathLst>
                <a:path w="1801940" h="670336">
                  <a:moveTo>
                    <a:pt x="11316" y="0"/>
                  </a:moveTo>
                  <a:lnTo>
                    <a:pt x="1790624" y="0"/>
                  </a:lnTo>
                  <a:cubicBezTo>
                    <a:pt x="1793625" y="0"/>
                    <a:pt x="1796504" y="1192"/>
                    <a:pt x="1798626" y="3314"/>
                  </a:cubicBezTo>
                  <a:cubicBezTo>
                    <a:pt x="1800748" y="5436"/>
                    <a:pt x="1801940" y="8315"/>
                    <a:pt x="1801940" y="11316"/>
                  </a:cubicBezTo>
                  <a:lnTo>
                    <a:pt x="1801940" y="659020"/>
                  </a:lnTo>
                  <a:cubicBezTo>
                    <a:pt x="1801940" y="662021"/>
                    <a:pt x="1800748" y="664899"/>
                    <a:pt x="1798626" y="667022"/>
                  </a:cubicBezTo>
                  <a:cubicBezTo>
                    <a:pt x="1796504" y="669144"/>
                    <a:pt x="1793625" y="670336"/>
                    <a:pt x="1790624" y="670336"/>
                  </a:cubicBezTo>
                  <a:lnTo>
                    <a:pt x="11316" y="670336"/>
                  </a:lnTo>
                  <a:cubicBezTo>
                    <a:pt x="8315" y="670336"/>
                    <a:pt x="5436" y="669144"/>
                    <a:pt x="3314" y="667022"/>
                  </a:cubicBezTo>
                  <a:cubicBezTo>
                    <a:pt x="1192" y="664899"/>
                    <a:pt x="0" y="662021"/>
                    <a:pt x="0" y="659020"/>
                  </a:cubicBezTo>
                  <a:lnTo>
                    <a:pt x="0" y="11316"/>
                  </a:lnTo>
                  <a:cubicBezTo>
                    <a:pt x="0" y="8315"/>
                    <a:pt x="1192" y="5436"/>
                    <a:pt x="3314" y="3314"/>
                  </a:cubicBezTo>
                  <a:cubicBezTo>
                    <a:pt x="5436" y="1192"/>
                    <a:pt x="8315" y="0"/>
                    <a:pt x="113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-7067" y="-118512"/>
              <a:ext cx="1801940" cy="708436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just">
                <a:lnSpc>
                  <a:spcPts val="3079"/>
                </a:lnSpc>
                <a:defRPr/>
              </a:pP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●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기존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플랫폼은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대부분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공고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정보를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단순히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나열하는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</a:p>
            <a:p>
              <a:pPr lvl="0" algn="just">
                <a:lnSpc>
                  <a:spcPts val="3079"/>
                </a:lnSpc>
                <a:defRPr/>
              </a:pPr>
              <a:r>
                <a:rPr lang="ko-KR" alt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 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형태라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본인에게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적합한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지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판단하기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어려움</a:t>
              </a:r>
              <a:endParaRPr lang="en-US" sz="2000" dirty="0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  <a:p>
              <a:pPr lvl="0" algn="just">
                <a:lnSpc>
                  <a:spcPts val="3079"/>
                </a:lnSpc>
                <a:defRPr/>
              </a:pPr>
              <a:endParaRPr lang="en-US" sz="2000" dirty="0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  <a:p>
              <a:pPr lvl="0" algn="just">
                <a:lnSpc>
                  <a:spcPts val="3079"/>
                </a:lnSpc>
                <a:defRPr/>
              </a:pP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●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활동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강도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,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임금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구조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,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근무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시간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등의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세부항목을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</a:p>
            <a:p>
              <a:pPr lvl="0" algn="just">
                <a:lnSpc>
                  <a:spcPts val="3079"/>
                </a:lnSpc>
                <a:defRPr/>
              </a:pP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 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비교하기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어려움</a:t>
              </a:r>
              <a:endParaRPr lang="en-US" sz="2000" dirty="0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  <a:p>
              <a:pPr lvl="0" algn="just">
                <a:lnSpc>
                  <a:spcPts val="3079"/>
                </a:lnSpc>
                <a:defRPr/>
              </a:pPr>
              <a:endParaRPr lang="en-US" sz="2199" dirty="0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494093" y="2370726"/>
            <a:ext cx="4525707" cy="867774"/>
            <a:chOff x="0" y="0"/>
            <a:chExt cx="1191956" cy="228549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91956" cy="228549"/>
            </a:xfrm>
            <a:custGeom>
              <a:avLst/>
              <a:gdLst/>
              <a:ahLst/>
              <a:cxnLst/>
              <a:rect l="l" t="t" r="r" b="b"/>
              <a:pathLst>
                <a:path w="1191956" h="228549">
                  <a:moveTo>
                    <a:pt x="13685" y="0"/>
                  </a:moveTo>
                  <a:lnTo>
                    <a:pt x="1178271" y="0"/>
                  </a:lnTo>
                  <a:cubicBezTo>
                    <a:pt x="1185829" y="0"/>
                    <a:pt x="1191956" y="6127"/>
                    <a:pt x="1191956" y="13685"/>
                  </a:cubicBezTo>
                  <a:lnTo>
                    <a:pt x="1191956" y="214864"/>
                  </a:lnTo>
                  <a:cubicBezTo>
                    <a:pt x="1191956" y="218494"/>
                    <a:pt x="1190514" y="221975"/>
                    <a:pt x="1187947" y="224541"/>
                  </a:cubicBezTo>
                  <a:cubicBezTo>
                    <a:pt x="1185381" y="227108"/>
                    <a:pt x="1181900" y="228549"/>
                    <a:pt x="1178271" y="228549"/>
                  </a:cubicBezTo>
                  <a:lnTo>
                    <a:pt x="13685" y="228549"/>
                  </a:lnTo>
                  <a:cubicBezTo>
                    <a:pt x="10056" y="228549"/>
                    <a:pt x="6575" y="227108"/>
                    <a:pt x="4008" y="224541"/>
                  </a:cubicBezTo>
                  <a:cubicBezTo>
                    <a:pt x="1442" y="221975"/>
                    <a:pt x="0" y="218494"/>
                    <a:pt x="0" y="214864"/>
                  </a:cubicBezTo>
                  <a:lnTo>
                    <a:pt x="0" y="13685"/>
                  </a:lnTo>
                  <a:cubicBezTo>
                    <a:pt x="0" y="10056"/>
                    <a:pt x="1442" y="6575"/>
                    <a:pt x="4008" y="4008"/>
                  </a:cubicBezTo>
                  <a:cubicBezTo>
                    <a:pt x="6575" y="1442"/>
                    <a:pt x="10056" y="0"/>
                    <a:pt x="13685" y="0"/>
                  </a:cubicBezTo>
                  <a:close/>
                </a:path>
              </a:pathLst>
            </a:custGeom>
            <a:solidFill>
              <a:srgbClr val="4E567C"/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1191956" cy="26664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079"/>
                </a:lnSpc>
                <a:defRPr/>
              </a:pPr>
              <a:r>
                <a:rPr lang="en-US" sz="2199">
                  <a:solidFill>
                    <a:srgbClr val="F6F8FF"/>
                  </a:solidFill>
                  <a:latin typeface="윤고딕 Bold"/>
                  <a:ea typeface="윤고딕 Bold"/>
                  <a:cs typeface="윤고딕 Bold"/>
                  <a:sym typeface="윤고딕 Bold"/>
                </a:rPr>
                <a:t>일자리만 제공하거나 정보 나열식</a:t>
              </a:r>
            </a:p>
          </p:txBody>
        </p:sp>
      </p:grpSp>
      <p:sp>
        <p:nvSpPr>
          <p:cNvPr id="68" name="Freeform 68"/>
          <p:cNvSpPr/>
          <p:nvPr/>
        </p:nvSpPr>
        <p:spPr>
          <a:xfrm>
            <a:off x="11941582" y="3805737"/>
            <a:ext cx="5067534" cy="4997855"/>
          </a:xfrm>
          <a:custGeom>
            <a:avLst/>
            <a:gdLst/>
            <a:ahLst/>
            <a:cxnLst/>
            <a:rect l="l" t="t" r="r" b="b"/>
            <a:pathLst>
              <a:path w="5067534" h="4997855">
                <a:moveTo>
                  <a:pt x="0" y="0"/>
                </a:moveTo>
                <a:lnTo>
                  <a:pt x="5067534" y="0"/>
                </a:lnTo>
                <a:lnTo>
                  <a:pt x="5067534" y="4997855"/>
                </a:lnTo>
                <a:lnTo>
                  <a:pt x="0" y="4997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343D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Freeform 69"/>
          <p:cNvSpPr/>
          <p:nvPr/>
        </p:nvSpPr>
        <p:spPr>
          <a:xfrm>
            <a:off x="9376613" y="2854565"/>
            <a:ext cx="3477043" cy="2147074"/>
          </a:xfrm>
          <a:custGeom>
            <a:avLst/>
            <a:gdLst/>
            <a:ahLst/>
            <a:cxnLst/>
            <a:rect l="l" t="t" r="r" b="b"/>
            <a:pathLst>
              <a:path w="3477043" h="2147074">
                <a:moveTo>
                  <a:pt x="0" y="0"/>
                </a:moveTo>
                <a:lnTo>
                  <a:pt x="3477043" y="0"/>
                </a:lnTo>
                <a:lnTo>
                  <a:pt x="3477043" y="2147074"/>
                </a:lnTo>
                <a:lnTo>
                  <a:pt x="0" y="2147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343D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3" name="Group 73"/>
          <p:cNvGrpSpPr/>
          <p:nvPr/>
        </p:nvGrpSpPr>
        <p:grpSpPr>
          <a:xfrm>
            <a:off x="1447800" y="6438899"/>
            <a:ext cx="7322386" cy="3124200"/>
            <a:chOff x="0" y="0"/>
            <a:chExt cx="1928530" cy="66476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928530" cy="567482"/>
            </a:xfrm>
            <a:custGeom>
              <a:avLst/>
              <a:gdLst/>
              <a:ahLst/>
              <a:cxnLst/>
              <a:rect l="l" t="t" r="r" b="b"/>
              <a:pathLst>
                <a:path w="1928530" h="567482">
                  <a:moveTo>
                    <a:pt x="10573" y="0"/>
                  </a:moveTo>
                  <a:lnTo>
                    <a:pt x="1917957" y="0"/>
                  </a:lnTo>
                  <a:cubicBezTo>
                    <a:pt x="1920761" y="0"/>
                    <a:pt x="1923450" y="1114"/>
                    <a:pt x="1925433" y="3097"/>
                  </a:cubicBezTo>
                  <a:cubicBezTo>
                    <a:pt x="1927416" y="5080"/>
                    <a:pt x="1928530" y="7769"/>
                    <a:pt x="1928530" y="10573"/>
                  </a:cubicBezTo>
                  <a:lnTo>
                    <a:pt x="1928530" y="556909"/>
                  </a:lnTo>
                  <a:cubicBezTo>
                    <a:pt x="1928530" y="559713"/>
                    <a:pt x="1927416" y="562402"/>
                    <a:pt x="1925433" y="564385"/>
                  </a:cubicBezTo>
                  <a:cubicBezTo>
                    <a:pt x="1923450" y="566368"/>
                    <a:pt x="1920761" y="567482"/>
                    <a:pt x="1917957" y="567482"/>
                  </a:cubicBezTo>
                  <a:lnTo>
                    <a:pt x="10573" y="567482"/>
                  </a:lnTo>
                  <a:cubicBezTo>
                    <a:pt x="7769" y="567482"/>
                    <a:pt x="5080" y="566368"/>
                    <a:pt x="3097" y="564385"/>
                  </a:cubicBezTo>
                  <a:cubicBezTo>
                    <a:pt x="1114" y="562402"/>
                    <a:pt x="0" y="559713"/>
                    <a:pt x="0" y="556909"/>
                  </a:cubicBezTo>
                  <a:lnTo>
                    <a:pt x="0" y="10573"/>
                  </a:lnTo>
                  <a:cubicBezTo>
                    <a:pt x="0" y="7769"/>
                    <a:pt x="1114" y="5080"/>
                    <a:pt x="3097" y="3097"/>
                  </a:cubicBezTo>
                  <a:cubicBezTo>
                    <a:pt x="5080" y="1114"/>
                    <a:pt x="7769" y="0"/>
                    <a:pt x="105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59182"/>
              <a:ext cx="1928530" cy="605582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just">
                <a:lnSpc>
                  <a:spcPts val="3079"/>
                </a:lnSpc>
                <a:defRPr/>
              </a:pPr>
              <a:r>
                <a:rPr lang="en-US" sz="2199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●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기존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서비스는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‘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지역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이름만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선택하면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공고가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나오는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‘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형태로</a:t>
              </a:r>
              <a:endParaRPr lang="en-US" sz="2000" dirty="0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  <a:p>
              <a:pPr lvl="0" algn="just">
                <a:lnSpc>
                  <a:spcPts val="3079"/>
                </a:lnSpc>
                <a:defRPr/>
              </a:pP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  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너무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단순하며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세부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조건을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반영하지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못함</a:t>
              </a:r>
              <a:endParaRPr lang="en-US" sz="2000" dirty="0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  <a:p>
              <a:pPr lvl="0" algn="just">
                <a:lnSpc>
                  <a:spcPts val="3079"/>
                </a:lnSpc>
                <a:defRPr/>
              </a:pPr>
              <a:endParaRPr lang="en-US" sz="2000" dirty="0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  <a:p>
              <a:pPr lvl="0" algn="just">
                <a:lnSpc>
                  <a:spcPts val="3079"/>
                </a:lnSpc>
                <a:defRPr/>
              </a:pP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●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노인의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생활권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특성을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반영하지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못해서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매칭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효율이</a:t>
              </a:r>
              <a:r>
                <a:rPr lang="en-US" sz="2000" dirty="0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r>
                <a:rPr lang="en-US" sz="2000" dirty="0" err="1">
                  <a:solidFill>
                    <a:srgbClr val="3D4569"/>
                  </a:solidFill>
                  <a:latin typeface="윤고딕"/>
                  <a:ea typeface="윤고딕"/>
                  <a:cs typeface="윤고딕"/>
                  <a:sym typeface="윤고딕"/>
                </a:rPr>
                <a:t>떨어짐</a:t>
              </a:r>
              <a:endParaRPr lang="en-US" sz="2000" dirty="0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  <a:p>
              <a:pPr lvl="0" algn="just">
                <a:lnSpc>
                  <a:spcPts val="3079"/>
                </a:lnSpc>
                <a:defRPr/>
              </a:pPr>
              <a:endParaRPr lang="en-US" sz="2199" dirty="0">
                <a:solidFill>
                  <a:srgbClr val="3D4569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</p:grpSp>
      <p:sp>
        <p:nvSpPr>
          <p:cNvPr id="76" name="Freeform 76"/>
          <p:cNvSpPr/>
          <p:nvPr/>
        </p:nvSpPr>
        <p:spPr>
          <a:xfrm rot="9439625">
            <a:off x="13080914" y="2889153"/>
            <a:ext cx="963631" cy="948691"/>
          </a:xfrm>
          <a:custGeom>
            <a:avLst/>
            <a:gdLst/>
            <a:ahLst/>
            <a:cxnLst/>
            <a:rect l="l" t="t" r="r" b="b"/>
            <a:pathLst>
              <a:path w="963631" h="948691">
                <a:moveTo>
                  <a:pt x="0" y="0"/>
                </a:moveTo>
                <a:lnTo>
                  <a:pt x="963632" y="0"/>
                </a:lnTo>
                <a:lnTo>
                  <a:pt x="963632" y="948691"/>
                </a:lnTo>
                <a:lnTo>
                  <a:pt x="0" y="948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7" name="TextBox 77"/>
          <p:cNvSpPr txBox="1"/>
          <p:nvPr/>
        </p:nvSpPr>
        <p:spPr>
          <a:xfrm>
            <a:off x="1243131" y="12679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580416" y="1471199"/>
            <a:ext cx="11199154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기존 서비스와 한계점 및 분석(</a:t>
            </a:r>
            <a:r>
              <a:rPr lang="en-US" sz="3999" b="1">
                <a:solidFill>
                  <a:srgbClr val="658C6A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노인일자리여기</a:t>
            </a: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034089" y="8908367"/>
            <a:ext cx="497502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[노인일자리여기] 지역을 입력하면 세부 조건 선택지 없이 단순히 일자리들이 나열되기만 한다.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1495579" y="5799726"/>
            <a:ext cx="4067021" cy="867774"/>
            <a:chOff x="0" y="0"/>
            <a:chExt cx="1071150" cy="228549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71150" cy="228549"/>
            </a:xfrm>
            <a:custGeom>
              <a:avLst/>
              <a:gdLst/>
              <a:ahLst/>
              <a:cxnLst/>
              <a:rect l="l" t="t" r="r" b="b"/>
              <a:pathLst>
                <a:path w="1071150" h="228549">
                  <a:moveTo>
                    <a:pt x="15229" y="0"/>
                  </a:moveTo>
                  <a:lnTo>
                    <a:pt x="1055921" y="0"/>
                  </a:lnTo>
                  <a:cubicBezTo>
                    <a:pt x="1064331" y="0"/>
                    <a:pt x="1071150" y="6818"/>
                    <a:pt x="1071150" y="15229"/>
                  </a:cubicBezTo>
                  <a:lnTo>
                    <a:pt x="1071150" y="213321"/>
                  </a:lnTo>
                  <a:cubicBezTo>
                    <a:pt x="1071150" y="217360"/>
                    <a:pt x="1069545" y="221233"/>
                    <a:pt x="1066689" y="224089"/>
                  </a:cubicBezTo>
                  <a:cubicBezTo>
                    <a:pt x="1063833" y="226945"/>
                    <a:pt x="1059960" y="228549"/>
                    <a:pt x="1055921" y="228549"/>
                  </a:cubicBezTo>
                  <a:lnTo>
                    <a:pt x="15229" y="228549"/>
                  </a:lnTo>
                  <a:cubicBezTo>
                    <a:pt x="6818" y="228549"/>
                    <a:pt x="0" y="221731"/>
                    <a:pt x="0" y="213321"/>
                  </a:cubicBezTo>
                  <a:lnTo>
                    <a:pt x="0" y="15229"/>
                  </a:lnTo>
                  <a:cubicBezTo>
                    <a:pt x="0" y="6818"/>
                    <a:pt x="6818" y="0"/>
                    <a:pt x="15229" y="0"/>
                  </a:cubicBezTo>
                  <a:close/>
                </a:path>
              </a:pathLst>
            </a:custGeom>
            <a:solidFill>
              <a:srgbClr val="4E567C"/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071150" cy="26664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079"/>
                </a:lnSpc>
                <a:defRPr/>
              </a:pPr>
              <a:r>
                <a:rPr lang="en-US" sz="2199">
                  <a:solidFill>
                    <a:srgbClr val="F6F8FF"/>
                  </a:solidFill>
                  <a:latin typeface="윤고딕 Bold"/>
                  <a:ea typeface="윤고딕 Bold"/>
                  <a:cs typeface="윤고딕 Bold"/>
                  <a:sym typeface="윤고딕 Bold"/>
                </a:rPr>
                <a:t>지역 기반 정교 추천 불가능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0027" y="632598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76" name="TextBox 76"/>
          <p:cNvSpPr txBox="1"/>
          <p:nvPr/>
        </p:nvSpPr>
        <p:spPr>
          <a:xfrm>
            <a:off x="1243131" y="123624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03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580416" y="1471199"/>
            <a:ext cx="11199154" cy="6690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기존</a:t>
            </a:r>
            <a:r>
              <a:rPr lang="en-US" sz="3999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999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서비스와</a:t>
            </a:r>
            <a:r>
              <a:rPr lang="en-US" sz="3999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999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한계점</a:t>
            </a:r>
            <a:r>
              <a:rPr lang="en-US" sz="3999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및 </a:t>
            </a:r>
            <a:r>
              <a:rPr lang="en-US" sz="3999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분석</a:t>
            </a:r>
            <a:r>
              <a:rPr lang="en-US" sz="3999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3999" b="1" dirty="0">
                <a:solidFill>
                  <a:srgbClr val="658C6A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각 지역구 문화원</a:t>
            </a:r>
            <a:r>
              <a:rPr lang="en-US" sz="3999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657922" y="3214272"/>
            <a:ext cx="5238769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취미 추천 기능 없음</a:t>
            </a: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60D0D954-4EB1-A598-78C2-42417FECF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141" y="2705184"/>
            <a:ext cx="4610691" cy="3832197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6BB3BB90-E621-046C-25CD-3CED33232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207" y="2705184"/>
            <a:ext cx="7060542" cy="3113040"/>
          </a:xfrm>
          <a:prstGeom prst="rect">
            <a:avLst/>
          </a:prstGeom>
        </p:spPr>
      </p:pic>
      <p:grpSp>
        <p:nvGrpSpPr>
          <p:cNvPr id="85" name="Group 12">
            <a:extLst>
              <a:ext uri="{FF2B5EF4-FFF2-40B4-BE49-F238E27FC236}">
                <a16:creationId xmlns:a16="http://schemas.microsoft.com/office/drawing/2014/main" id="{6BB34DB0-7001-3029-A8E2-58007F87B2A5}"/>
              </a:ext>
            </a:extLst>
          </p:cNvPr>
          <p:cNvGrpSpPr/>
          <p:nvPr/>
        </p:nvGrpSpPr>
        <p:grpSpPr>
          <a:xfrm>
            <a:off x="1948262" y="6748497"/>
            <a:ext cx="14380964" cy="1954075"/>
            <a:chOff x="0" y="-705980"/>
            <a:chExt cx="20703328" cy="4463862"/>
          </a:xfrm>
        </p:grpSpPr>
        <p:grpSp>
          <p:nvGrpSpPr>
            <p:cNvPr id="86" name="Group 13">
              <a:extLst>
                <a:ext uri="{FF2B5EF4-FFF2-40B4-BE49-F238E27FC236}">
                  <a16:creationId xmlns:a16="http://schemas.microsoft.com/office/drawing/2014/main" id="{0429A65A-4012-9BD0-3849-F8CABCF42812}"/>
                </a:ext>
              </a:extLst>
            </p:cNvPr>
            <p:cNvGrpSpPr/>
            <p:nvPr/>
          </p:nvGrpSpPr>
          <p:grpSpPr>
            <a:xfrm>
              <a:off x="0" y="-705980"/>
              <a:ext cx="10508254" cy="2333644"/>
              <a:chOff x="0" y="-139453"/>
              <a:chExt cx="2075705" cy="460967"/>
            </a:xfrm>
          </p:grpSpPr>
          <p:sp>
            <p:nvSpPr>
              <p:cNvPr id="90" name="Freeform 14">
                <a:extLst>
                  <a:ext uri="{FF2B5EF4-FFF2-40B4-BE49-F238E27FC236}">
                    <a16:creationId xmlns:a16="http://schemas.microsoft.com/office/drawing/2014/main" id="{C02BA628-A122-FEEB-3AC4-4898197D2C74}"/>
                  </a:ext>
                </a:extLst>
              </p:cNvPr>
              <p:cNvSpPr/>
              <p:nvPr/>
            </p:nvSpPr>
            <p:spPr>
              <a:xfrm>
                <a:off x="9713" y="-139453"/>
                <a:ext cx="2065992" cy="460967"/>
              </a:xfrm>
              <a:custGeom>
                <a:avLst/>
                <a:gdLst/>
                <a:ahLst/>
                <a:cxnLst/>
                <a:rect l="l" t="t" r="r" b="b"/>
                <a:pathLst>
                  <a:path w="2065992" h="311694">
                    <a:moveTo>
                      <a:pt x="8883" y="0"/>
                    </a:moveTo>
                    <a:lnTo>
                      <a:pt x="2057110" y="0"/>
                    </a:lnTo>
                    <a:cubicBezTo>
                      <a:pt x="2062016" y="0"/>
                      <a:pt x="2065992" y="3977"/>
                      <a:pt x="2065992" y="8883"/>
                    </a:cubicBezTo>
                    <a:lnTo>
                      <a:pt x="2065992" y="302811"/>
                    </a:lnTo>
                    <a:cubicBezTo>
                      <a:pt x="2065992" y="307717"/>
                      <a:pt x="2062016" y="311694"/>
                      <a:pt x="2057110" y="311694"/>
                    </a:cubicBezTo>
                    <a:lnTo>
                      <a:pt x="8883" y="311694"/>
                    </a:lnTo>
                    <a:cubicBezTo>
                      <a:pt x="3977" y="311694"/>
                      <a:pt x="0" y="307717"/>
                      <a:pt x="0" y="302811"/>
                    </a:cubicBezTo>
                    <a:lnTo>
                      <a:pt x="0" y="8883"/>
                    </a:lnTo>
                    <a:cubicBezTo>
                      <a:pt x="0" y="3977"/>
                      <a:pt x="3977" y="0"/>
                      <a:pt x="8883" y="0"/>
                    </a:cubicBezTo>
                    <a:close/>
                  </a:path>
                </a:pathLst>
              </a:custGeom>
              <a:solidFill>
                <a:srgbClr val="6F769C"/>
              </a:solidFill>
              <a:ln w="9525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en-US" altLang="ko-KR" sz="2000" b="1" dirty="0"/>
              </a:p>
              <a:p>
                <a:pPr algn="ctr"/>
                <a:r>
                  <a:rPr lang="ko-KR" altLang="en-US" sz="2000" b="1" dirty="0">
                    <a:solidFill>
                      <a:schemeClr val="bg1"/>
                    </a:solidFill>
                  </a:rPr>
                  <a:t>사용자 친화적인 기능이 부족</a:t>
                </a:r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TextBox 15">
                <a:extLst>
                  <a:ext uri="{FF2B5EF4-FFF2-40B4-BE49-F238E27FC236}">
                    <a16:creationId xmlns:a16="http://schemas.microsoft.com/office/drawing/2014/main" id="{AFECD239-5D97-1045-C280-5445C83371F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65993" cy="3593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87" name="Group 16">
              <a:extLst>
                <a:ext uri="{FF2B5EF4-FFF2-40B4-BE49-F238E27FC236}">
                  <a16:creationId xmlns:a16="http://schemas.microsoft.com/office/drawing/2014/main" id="{88893523-36DA-AD90-3888-4B87091972E1}"/>
                </a:ext>
              </a:extLst>
            </p:cNvPr>
            <p:cNvGrpSpPr/>
            <p:nvPr/>
          </p:nvGrpSpPr>
          <p:grpSpPr>
            <a:xfrm>
              <a:off x="0" y="1216678"/>
              <a:ext cx="20703328" cy="2541204"/>
              <a:chOff x="0" y="0"/>
              <a:chExt cx="4089546" cy="501966"/>
            </a:xfrm>
          </p:grpSpPr>
          <p:sp>
            <p:nvSpPr>
              <p:cNvPr id="88" name="Freeform 17">
                <a:extLst>
                  <a:ext uri="{FF2B5EF4-FFF2-40B4-BE49-F238E27FC236}">
                    <a16:creationId xmlns:a16="http://schemas.microsoft.com/office/drawing/2014/main" id="{F1B938AB-6855-C090-2C5C-A0C9EC6F401A}"/>
                  </a:ext>
                </a:extLst>
              </p:cNvPr>
              <p:cNvSpPr/>
              <p:nvPr/>
            </p:nvSpPr>
            <p:spPr>
              <a:xfrm>
                <a:off x="0" y="0"/>
                <a:ext cx="4089547" cy="501966"/>
              </a:xfrm>
              <a:custGeom>
                <a:avLst/>
                <a:gdLst/>
                <a:ahLst/>
                <a:cxnLst/>
                <a:rect l="l" t="t" r="r" b="b"/>
                <a:pathLst>
                  <a:path w="4089547" h="501966">
                    <a:moveTo>
                      <a:pt x="0" y="0"/>
                    </a:moveTo>
                    <a:lnTo>
                      <a:pt x="4089547" y="0"/>
                    </a:lnTo>
                    <a:lnTo>
                      <a:pt x="4089547" y="501966"/>
                    </a:lnTo>
                    <a:lnTo>
                      <a:pt x="0" y="501966"/>
                    </a:lnTo>
                    <a:close/>
                  </a:path>
                </a:pathLst>
              </a:custGeom>
              <a:solidFill>
                <a:srgbClr val="F2F5FF"/>
              </a:solidFill>
              <a:ln w="9525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18">
                <a:extLst>
                  <a:ext uri="{FF2B5EF4-FFF2-40B4-BE49-F238E27FC236}">
                    <a16:creationId xmlns:a16="http://schemas.microsoft.com/office/drawing/2014/main" id="{1A0E3483-14BC-C1E7-3407-EE9E257D443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089546" cy="5495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42B40AFD-BFBF-CE97-6BC5-A4AF80032F08}"/>
              </a:ext>
            </a:extLst>
          </p:cNvPr>
          <p:cNvSpPr txBox="1"/>
          <p:nvPr/>
        </p:nvSpPr>
        <p:spPr>
          <a:xfrm>
            <a:off x="2133600" y="776805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단순한 ‘목록 제공’ 수준</a:t>
            </a:r>
            <a:endParaRPr lang="en-US" altLang="ko-KR" dirty="0"/>
          </a:p>
          <a:p>
            <a:r>
              <a:rPr lang="ko-KR" altLang="en-US" dirty="0"/>
              <a:t>관심사 기반 추천이나 개인 맞춤 기능이 전혀 없음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56969" y="4651328"/>
            <a:ext cx="8774061" cy="96180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492"/>
              </a:lnSpc>
              <a:defRPr/>
            </a:pPr>
            <a:r>
              <a:rPr lang="ko-KR" altLang="en-US" sz="6514" b="1" spc="-214" dirty="0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기존</a:t>
            </a:r>
            <a:r>
              <a:rPr lang="en-US" sz="6514" b="1" spc="-214" dirty="0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ko-KR" altLang="en-US" sz="6514" b="1" spc="-214" dirty="0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서비스와</a:t>
            </a:r>
            <a:r>
              <a:rPr lang="en-US" sz="6514" b="1" spc="-214" dirty="0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6514" b="1" spc="-214" dirty="0" err="1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차별성</a:t>
            </a:r>
            <a:endParaRPr lang="en-US" sz="6514" b="1" spc="-214" dirty="0">
              <a:solidFill>
                <a:srgbClr val="191919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343D63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40344" y="4433084"/>
            <a:ext cx="3515812" cy="4500714"/>
            <a:chOff x="0" y="0"/>
            <a:chExt cx="4687749" cy="600095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687749" cy="6000953"/>
              <a:chOff x="0" y="0"/>
              <a:chExt cx="925975" cy="118537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25975" cy="1185373"/>
              </a:xfrm>
              <a:custGeom>
                <a:avLst/>
                <a:gdLst/>
                <a:ahLst/>
                <a:cxnLst/>
                <a:rect l="l" t="t" r="r" b="b"/>
                <a:pathLst>
                  <a:path w="925975" h="1185373">
                    <a:moveTo>
                      <a:pt x="22020" y="0"/>
                    </a:moveTo>
                    <a:lnTo>
                      <a:pt x="903955" y="0"/>
                    </a:lnTo>
                    <a:cubicBezTo>
                      <a:pt x="916116" y="0"/>
                      <a:pt x="925975" y="9859"/>
                      <a:pt x="925975" y="22020"/>
                    </a:cubicBezTo>
                    <a:lnTo>
                      <a:pt x="925975" y="1163353"/>
                    </a:lnTo>
                    <a:cubicBezTo>
                      <a:pt x="925975" y="1169193"/>
                      <a:pt x="923655" y="1174794"/>
                      <a:pt x="919525" y="1178924"/>
                    </a:cubicBezTo>
                    <a:cubicBezTo>
                      <a:pt x="915396" y="1183053"/>
                      <a:pt x="909795" y="1185373"/>
                      <a:pt x="903955" y="1185373"/>
                    </a:cubicBezTo>
                    <a:lnTo>
                      <a:pt x="22020" y="1185373"/>
                    </a:lnTo>
                    <a:cubicBezTo>
                      <a:pt x="9859" y="1185373"/>
                      <a:pt x="0" y="1175515"/>
                      <a:pt x="0" y="1163353"/>
                    </a:cubicBezTo>
                    <a:lnTo>
                      <a:pt x="0" y="22020"/>
                    </a:lnTo>
                    <a:cubicBezTo>
                      <a:pt x="0" y="9859"/>
                      <a:pt x="9859" y="0"/>
                      <a:pt x="220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925975" cy="12329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10262" y="1674365"/>
              <a:ext cx="4677487" cy="0"/>
            </a:xfrm>
            <a:prstGeom prst="line">
              <a:avLst/>
            </a:prstGeom>
            <a:ln w="25400" cap="flat">
              <a:solidFill>
                <a:srgbClr val="343D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8" name="Group 18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42" name="AutoShape 42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360980" y="4458859"/>
            <a:ext cx="3519054" cy="4474939"/>
            <a:chOff x="0" y="0"/>
            <a:chExt cx="4692073" cy="5966585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0"/>
              <a:ext cx="4692073" cy="5966585"/>
              <a:chOff x="0" y="0"/>
              <a:chExt cx="926829" cy="117858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926829" cy="1178585"/>
              </a:xfrm>
              <a:custGeom>
                <a:avLst/>
                <a:gdLst/>
                <a:ahLst/>
                <a:cxnLst/>
                <a:rect l="l" t="t" r="r" b="b"/>
                <a:pathLst>
                  <a:path w="926829" h="1178585">
                    <a:moveTo>
                      <a:pt x="22000" y="0"/>
                    </a:moveTo>
                    <a:lnTo>
                      <a:pt x="904829" y="0"/>
                    </a:lnTo>
                    <a:cubicBezTo>
                      <a:pt x="910664" y="0"/>
                      <a:pt x="916260" y="2318"/>
                      <a:pt x="920385" y="6444"/>
                    </a:cubicBezTo>
                    <a:cubicBezTo>
                      <a:pt x="924511" y="10569"/>
                      <a:pt x="926829" y="16165"/>
                      <a:pt x="926829" y="22000"/>
                    </a:cubicBezTo>
                    <a:lnTo>
                      <a:pt x="926829" y="1156585"/>
                    </a:lnTo>
                    <a:cubicBezTo>
                      <a:pt x="926829" y="1162420"/>
                      <a:pt x="924511" y="1168015"/>
                      <a:pt x="920385" y="1172141"/>
                    </a:cubicBezTo>
                    <a:cubicBezTo>
                      <a:pt x="916260" y="1176267"/>
                      <a:pt x="910664" y="1178585"/>
                      <a:pt x="904829" y="1178585"/>
                    </a:cubicBezTo>
                    <a:lnTo>
                      <a:pt x="22000" y="1178585"/>
                    </a:lnTo>
                    <a:cubicBezTo>
                      <a:pt x="16165" y="1178585"/>
                      <a:pt x="10569" y="1176267"/>
                      <a:pt x="6444" y="1172141"/>
                    </a:cubicBezTo>
                    <a:cubicBezTo>
                      <a:pt x="2318" y="1168015"/>
                      <a:pt x="0" y="1162420"/>
                      <a:pt x="0" y="1156585"/>
                    </a:cubicBezTo>
                    <a:lnTo>
                      <a:pt x="0" y="22000"/>
                    </a:lnTo>
                    <a:cubicBezTo>
                      <a:pt x="0" y="16165"/>
                      <a:pt x="2318" y="10569"/>
                      <a:pt x="6444" y="6444"/>
                    </a:cubicBezTo>
                    <a:cubicBezTo>
                      <a:pt x="10569" y="2318"/>
                      <a:pt x="16165" y="0"/>
                      <a:pt x="22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47625"/>
                <a:ext cx="926829" cy="1226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70" name="AutoShape 70"/>
            <p:cNvSpPr/>
            <p:nvPr/>
          </p:nvSpPr>
          <p:spPr>
            <a:xfrm>
              <a:off x="10272" y="1664776"/>
              <a:ext cx="4681801" cy="0"/>
            </a:xfrm>
            <a:prstGeom prst="line">
              <a:avLst/>
            </a:prstGeom>
            <a:ln w="25400" cap="flat">
              <a:solidFill>
                <a:srgbClr val="343D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307733" y="4458859"/>
            <a:ext cx="3537393" cy="4473035"/>
            <a:chOff x="0" y="0"/>
            <a:chExt cx="4716524" cy="5964047"/>
          </a:xfrm>
        </p:grpSpPr>
        <p:grpSp>
          <p:nvGrpSpPr>
            <p:cNvPr id="72" name="Group 72"/>
            <p:cNvGrpSpPr/>
            <p:nvPr/>
          </p:nvGrpSpPr>
          <p:grpSpPr>
            <a:xfrm>
              <a:off x="0" y="0"/>
              <a:ext cx="4716524" cy="5964047"/>
              <a:chOff x="0" y="0"/>
              <a:chExt cx="931659" cy="117808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931659" cy="1178083"/>
              </a:xfrm>
              <a:custGeom>
                <a:avLst/>
                <a:gdLst/>
                <a:ahLst/>
                <a:cxnLst/>
                <a:rect l="l" t="t" r="r" b="b"/>
                <a:pathLst>
                  <a:path w="931659" h="1178083">
                    <a:moveTo>
                      <a:pt x="21886" y="0"/>
                    </a:moveTo>
                    <a:lnTo>
                      <a:pt x="909773" y="0"/>
                    </a:lnTo>
                    <a:cubicBezTo>
                      <a:pt x="921860" y="0"/>
                      <a:pt x="931659" y="9799"/>
                      <a:pt x="931659" y="21886"/>
                    </a:cubicBezTo>
                    <a:lnTo>
                      <a:pt x="931659" y="1156197"/>
                    </a:lnTo>
                    <a:cubicBezTo>
                      <a:pt x="931659" y="1168285"/>
                      <a:pt x="921860" y="1178083"/>
                      <a:pt x="909773" y="1178083"/>
                    </a:cubicBezTo>
                    <a:lnTo>
                      <a:pt x="21886" y="1178083"/>
                    </a:lnTo>
                    <a:cubicBezTo>
                      <a:pt x="9799" y="1178083"/>
                      <a:pt x="0" y="1168285"/>
                      <a:pt x="0" y="1156197"/>
                    </a:cubicBezTo>
                    <a:lnTo>
                      <a:pt x="0" y="21886"/>
                    </a:lnTo>
                    <a:cubicBezTo>
                      <a:pt x="0" y="9799"/>
                      <a:pt x="9799" y="0"/>
                      <a:pt x="218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931659" cy="12257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75" name="AutoShape 75"/>
            <p:cNvSpPr/>
            <p:nvPr/>
          </p:nvSpPr>
          <p:spPr>
            <a:xfrm>
              <a:off x="10325" y="1664067"/>
              <a:ext cx="4706199" cy="0"/>
            </a:xfrm>
            <a:prstGeom prst="line">
              <a:avLst/>
            </a:prstGeom>
            <a:ln w="25400" cap="flat">
              <a:solidFill>
                <a:srgbClr val="343D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356285" y="4456955"/>
            <a:ext cx="3475198" cy="4474939"/>
            <a:chOff x="0" y="0"/>
            <a:chExt cx="4633598" cy="5966585"/>
          </a:xfrm>
        </p:grpSpPr>
        <p:grpSp>
          <p:nvGrpSpPr>
            <p:cNvPr id="77" name="Group 77"/>
            <p:cNvGrpSpPr/>
            <p:nvPr/>
          </p:nvGrpSpPr>
          <p:grpSpPr>
            <a:xfrm>
              <a:off x="0" y="0"/>
              <a:ext cx="4633598" cy="5966585"/>
              <a:chOff x="0" y="0"/>
              <a:chExt cx="915279" cy="117858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915279" cy="1178585"/>
              </a:xfrm>
              <a:custGeom>
                <a:avLst/>
                <a:gdLst/>
                <a:ahLst/>
                <a:cxnLst/>
                <a:rect l="l" t="t" r="r" b="b"/>
                <a:pathLst>
                  <a:path w="915279" h="1178585">
                    <a:moveTo>
                      <a:pt x="22278" y="0"/>
                    </a:moveTo>
                    <a:lnTo>
                      <a:pt x="893001" y="0"/>
                    </a:lnTo>
                    <a:cubicBezTo>
                      <a:pt x="905305" y="0"/>
                      <a:pt x="915279" y="9974"/>
                      <a:pt x="915279" y="22278"/>
                    </a:cubicBezTo>
                    <a:lnTo>
                      <a:pt x="915279" y="1156307"/>
                    </a:lnTo>
                    <a:cubicBezTo>
                      <a:pt x="915279" y="1162215"/>
                      <a:pt x="912931" y="1167882"/>
                      <a:pt x="908754" y="1172060"/>
                    </a:cubicBezTo>
                    <a:cubicBezTo>
                      <a:pt x="904576" y="1176238"/>
                      <a:pt x="898909" y="1178585"/>
                      <a:pt x="893001" y="1178585"/>
                    </a:cubicBezTo>
                    <a:lnTo>
                      <a:pt x="22278" y="1178585"/>
                    </a:lnTo>
                    <a:cubicBezTo>
                      <a:pt x="9974" y="1178585"/>
                      <a:pt x="0" y="1168611"/>
                      <a:pt x="0" y="1156307"/>
                    </a:cubicBezTo>
                    <a:lnTo>
                      <a:pt x="0" y="22278"/>
                    </a:lnTo>
                    <a:cubicBezTo>
                      <a:pt x="0" y="9974"/>
                      <a:pt x="9974" y="0"/>
                      <a:pt x="222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0" y="-47625"/>
                <a:ext cx="915279" cy="1226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80" name="AutoShape 80"/>
            <p:cNvSpPr/>
            <p:nvPr/>
          </p:nvSpPr>
          <p:spPr>
            <a:xfrm>
              <a:off x="10144" y="1664776"/>
              <a:ext cx="4623454" cy="0"/>
            </a:xfrm>
            <a:prstGeom prst="line">
              <a:avLst/>
            </a:prstGeom>
            <a:ln w="25400" cap="flat">
              <a:solidFill>
                <a:srgbClr val="343D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1" name="Freeform 81"/>
          <p:cNvSpPr/>
          <p:nvPr/>
        </p:nvSpPr>
        <p:spPr>
          <a:xfrm>
            <a:off x="2638014" y="2955129"/>
            <a:ext cx="1530693" cy="1163327"/>
          </a:xfrm>
          <a:custGeom>
            <a:avLst/>
            <a:gdLst/>
            <a:ahLst/>
            <a:cxnLst/>
            <a:rect l="l" t="t" r="r" b="b"/>
            <a:pathLst>
              <a:path w="1530693" h="1163327">
                <a:moveTo>
                  <a:pt x="0" y="0"/>
                </a:moveTo>
                <a:lnTo>
                  <a:pt x="1530693" y="0"/>
                </a:lnTo>
                <a:lnTo>
                  <a:pt x="1530693" y="1163327"/>
                </a:lnTo>
                <a:lnTo>
                  <a:pt x="0" y="116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2" name="Freeform 82"/>
          <p:cNvSpPr/>
          <p:nvPr/>
        </p:nvSpPr>
        <p:spPr>
          <a:xfrm>
            <a:off x="6492205" y="2862376"/>
            <a:ext cx="1648682" cy="1348833"/>
          </a:xfrm>
          <a:custGeom>
            <a:avLst/>
            <a:gdLst/>
            <a:ahLst/>
            <a:cxnLst/>
            <a:rect l="l" t="t" r="r" b="b"/>
            <a:pathLst>
              <a:path w="1648682" h="1348833">
                <a:moveTo>
                  <a:pt x="0" y="0"/>
                </a:moveTo>
                <a:lnTo>
                  <a:pt x="1648682" y="0"/>
                </a:lnTo>
                <a:lnTo>
                  <a:pt x="1648682" y="1348833"/>
                </a:lnTo>
                <a:lnTo>
                  <a:pt x="0" y="13488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3" name="Freeform 83"/>
          <p:cNvSpPr/>
          <p:nvPr/>
        </p:nvSpPr>
        <p:spPr>
          <a:xfrm>
            <a:off x="14301737" y="2745903"/>
            <a:ext cx="1457314" cy="1465306"/>
          </a:xfrm>
          <a:custGeom>
            <a:avLst/>
            <a:gdLst/>
            <a:ahLst/>
            <a:cxnLst/>
            <a:rect l="l" t="t" r="r" b="b"/>
            <a:pathLst>
              <a:path w="1457314" h="1465306">
                <a:moveTo>
                  <a:pt x="0" y="0"/>
                </a:moveTo>
                <a:lnTo>
                  <a:pt x="1457314" y="0"/>
                </a:lnTo>
                <a:lnTo>
                  <a:pt x="1457314" y="1465306"/>
                </a:lnTo>
                <a:lnTo>
                  <a:pt x="0" y="14653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4" name="Freeform 84"/>
          <p:cNvSpPr/>
          <p:nvPr/>
        </p:nvSpPr>
        <p:spPr>
          <a:xfrm>
            <a:off x="10337559" y="2769402"/>
            <a:ext cx="1512650" cy="1535525"/>
          </a:xfrm>
          <a:custGeom>
            <a:avLst/>
            <a:gdLst/>
            <a:ahLst/>
            <a:cxnLst/>
            <a:rect l="l" t="t" r="r" b="b"/>
            <a:pathLst>
              <a:path w="1512650" h="1535525">
                <a:moveTo>
                  <a:pt x="0" y="0"/>
                </a:moveTo>
                <a:lnTo>
                  <a:pt x="1512650" y="0"/>
                </a:lnTo>
                <a:lnTo>
                  <a:pt x="1512650" y="1535526"/>
                </a:lnTo>
                <a:lnTo>
                  <a:pt x="0" y="15355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5" name="TextBox 85"/>
          <p:cNvSpPr txBox="1"/>
          <p:nvPr/>
        </p:nvSpPr>
        <p:spPr>
          <a:xfrm>
            <a:off x="1243131" y="12679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580416" y="1471199"/>
            <a:ext cx="9798091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 프로젝트의 차별성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600200" y="4634068"/>
            <a:ext cx="3124200" cy="8412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359"/>
              </a:lnSpc>
              <a:defRPr/>
            </a:pPr>
            <a:r>
              <a:rPr lang="en-US" sz="2400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취미</a:t>
            </a:r>
            <a:r>
              <a:rPr lang="en-US" sz="2400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+ </a:t>
            </a:r>
            <a:r>
              <a:rPr lang="en-US" sz="2400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일자리</a:t>
            </a:r>
            <a:r>
              <a:rPr lang="en-US" sz="2400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400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통합</a:t>
            </a:r>
            <a:r>
              <a:rPr lang="en-US" sz="2400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</a:p>
          <a:p>
            <a:pPr lvl="0" algn="ctr">
              <a:lnSpc>
                <a:spcPts val="3359"/>
              </a:lnSpc>
              <a:defRPr/>
            </a:pPr>
            <a:r>
              <a:rPr lang="en-US" sz="2400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추천</a:t>
            </a:r>
            <a:r>
              <a:rPr lang="en-US" sz="2400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400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서비스</a:t>
            </a:r>
            <a:endParaRPr lang="en-US" sz="2400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13258799" y="4598590"/>
            <a:ext cx="3581400" cy="128786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359"/>
              </a:lnSpc>
              <a:defRPr/>
            </a:pPr>
            <a:r>
              <a:rPr lang="en-US" sz="230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노인의 실제 생활 패턴에 맞는 현실적 접근성 중심 설계</a:t>
            </a:r>
          </a:p>
          <a:p>
            <a:pPr lvl="0" algn="ctr">
              <a:lnSpc>
                <a:spcPts val="3359"/>
              </a:lnSpc>
              <a:defRPr/>
            </a:pPr>
            <a:endParaRPr lang="en-US" sz="230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9694099" y="4697730"/>
            <a:ext cx="2841247" cy="405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대리</a:t>
            </a:r>
            <a:r>
              <a:rPr lang="en-US" sz="23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399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입력</a:t>
            </a:r>
            <a:r>
              <a:rPr lang="en-US" sz="23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399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기능</a:t>
            </a:r>
            <a:r>
              <a:rPr lang="en-US" sz="23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399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제공</a:t>
            </a:r>
            <a:endParaRPr lang="en-US" sz="23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5683434" y="4661244"/>
            <a:ext cx="3052636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사용자</a:t>
            </a:r>
            <a:r>
              <a:rPr lang="en-US" sz="23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399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건강·성향·거리맞춤</a:t>
            </a:r>
            <a:r>
              <a:rPr lang="en-US" sz="23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446198" y="5878667"/>
            <a:ext cx="3231125" cy="232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C0D"/>
                </a:solidFill>
                <a:latin typeface="윤고딕"/>
                <a:ea typeface="윤고딕"/>
                <a:cs typeface="윤고딕"/>
                <a:sym typeface="윤고딕"/>
              </a:rPr>
              <a:t>● 노인층은 ‘의미 있는 활동‘에 참여할 동기가 중요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000C0D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C0D"/>
                </a:solidFill>
                <a:latin typeface="윤고딕"/>
                <a:ea typeface="윤고딕"/>
                <a:cs typeface="윤고딕"/>
                <a:sym typeface="윤고딕"/>
              </a:rPr>
              <a:t>-&gt;단순 생계형 공고보다 취미 기반 연결이 참여율,만족도가 높아짐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5504945" y="5813980"/>
            <a:ext cx="3231125" cy="271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●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무리한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신체노동이나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먼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거리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이동을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추천하면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부상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불만을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초래</a:t>
            </a:r>
            <a:endParaRPr lang="en-US" sz="2199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-&gt;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안전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지속성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문제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발발</a:t>
            </a:r>
            <a:endParaRPr lang="en-US" sz="2199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079"/>
              </a:lnSpc>
            </a:pPr>
            <a:endParaRPr lang="en-US" sz="2199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●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지역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특화자원을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활용하면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연결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효율성</a:t>
            </a:r>
            <a:r>
              <a:rPr lang="en-US" sz="2199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높아짐</a:t>
            </a:r>
            <a:endParaRPr lang="en-US" sz="2199" dirty="0">
              <a:solidFill>
                <a:srgbClr val="000000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9499160" y="5813980"/>
            <a:ext cx="3231125" cy="31490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079"/>
              </a:lnSpc>
              <a:defRPr/>
            </a:pPr>
            <a:r>
              <a:rPr lang="en-US" sz="21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● 인지,시력,디지털 미숙 등의 이유로 혼자 가입과 설정이 어려우 노인이 존재함</a:t>
            </a:r>
          </a:p>
          <a:p>
            <a:pPr lvl="0" algn="l">
              <a:lnSpc>
                <a:spcPts val="3079"/>
              </a:lnSpc>
              <a:defRPr/>
            </a:pPr>
            <a:r>
              <a:rPr lang="en-US" sz="21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● 가족,복지사가 개입하면 정확한 건강과 상황 정보 확보, 지속적 관리가 가능함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3449664" y="5813980"/>
            <a:ext cx="3231125" cy="274899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079"/>
              </a:lnSpc>
              <a:defRPr/>
            </a:pPr>
            <a:r>
              <a:rPr lang="en-US" sz="21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● 큰 글자, 충분한 행간, 명확한 버튼 사용</a:t>
            </a:r>
          </a:p>
          <a:p>
            <a:pPr lvl="0" algn="l">
              <a:lnSpc>
                <a:spcPts val="3079"/>
              </a:lnSpc>
              <a:defRPr/>
            </a:pPr>
            <a:r>
              <a:rPr lang="en-US" sz="21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● 디지털 친화도가 낮아도 서비스 이용이 가능해야 포괄적 복지가 실현됨.</a:t>
            </a:r>
          </a:p>
          <a:p>
            <a:pPr lvl="0" algn="l">
              <a:lnSpc>
                <a:spcPts val="3079"/>
              </a:lnSpc>
              <a:defRPr/>
            </a:pPr>
            <a:r>
              <a:rPr lang="en-US" sz="21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● 오프라인 지원을 병행</a:t>
            </a:r>
          </a:p>
          <a:p>
            <a:pPr lvl="0" algn="l">
              <a:lnSpc>
                <a:spcPts val="3079"/>
              </a:lnSpc>
              <a:defRPr/>
            </a:pPr>
            <a:r>
              <a:rPr lang="en-US" sz="2199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-&gt;초기 진입장벽 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2364175" y="6276140"/>
            <a:ext cx="5238769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가족/복지사 대리 입력 기능 없음</a:t>
            </a:r>
          </a:p>
        </p:txBody>
      </p:sp>
      <p:sp>
        <p:nvSpPr>
          <p:cNvPr id="62" name="Freeform 62"/>
          <p:cNvSpPr/>
          <p:nvPr/>
        </p:nvSpPr>
        <p:spPr>
          <a:xfrm>
            <a:off x="2580416" y="2510682"/>
            <a:ext cx="5717803" cy="3880959"/>
          </a:xfrm>
          <a:custGeom>
            <a:avLst/>
            <a:gdLst/>
            <a:ahLst/>
            <a:cxnLst/>
            <a:rect l="l" t="t" r="r" b="b"/>
            <a:pathLst>
              <a:path w="5717803" h="3880959">
                <a:moveTo>
                  <a:pt x="0" y="0"/>
                </a:moveTo>
                <a:lnTo>
                  <a:pt x="5717803" y="0"/>
                </a:lnTo>
                <a:lnTo>
                  <a:pt x="5717803" y="3880959"/>
                </a:lnTo>
                <a:lnTo>
                  <a:pt x="0" y="3880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343D63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AutoShape 63"/>
          <p:cNvSpPr/>
          <p:nvPr/>
        </p:nvSpPr>
        <p:spPr>
          <a:xfrm>
            <a:off x="2914674" y="5878610"/>
            <a:ext cx="2625948" cy="0"/>
          </a:xfrm>
          <a:prstGeom prst="line">
            <a:avLst/>
          </a:prstGeom>
          <a:ln w="28575" cap="flat">
            <a:solidFill>
              <a:srgbClr val="FF3131">
                <a:alpha val="62745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AutoShape 64"/>
          <p:cNvSpPr/>
          <p:nvPr/>
        </p:nvSpPr>
        <p:spPr>
          <a:xfrm flipV="1">
            <a:off x="2914674" y="5768704"/>
            <a:ext cx="3490221" cy="0"/>
          </a:xfrm>
          <a:prstGeom prst="line">
            <a:avLst/>
          </a:prstGeom>
          <a:ln w="28575" cap="flat">
            <a:solidFill>
              <a:srgbClr val="FF3131">
                <a:alpha val="67843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Freeform 65"/>
          <p:cNvSpPr/>
          <p:nvPr/>
        </p:nvSpPr>
        <p:spPr>
          <a:xfrm>
            <a:off x="10690629" y="2406169"/>
            <a:ext cx="2943866" cy="2988779"/>
          </a:xfrm>
          <a:custGeom>
            <a:avLst/>
            <a:gdLst/>
            <a:ahLst/>
            <a:cxnLst/>
            <a:rect l="l" t="t" r="r" b="b"/>
            <a:pathLst>
              <a:path w="4353434" h="4036590">
                <a:moveTo>
                  <a:pt x="0" y="0"/>
                </a:moveTo>
                <a:lnTo>
                  <a:pt x="4353435" y="0"/>
                </a:lnTo>
                <a:lnTo>
                  <a:pt x="4353435" y="4036590"/>
                </a:lnTo>
                <a:lnTo>
                  <a:pt x="0" y="4036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6" name="Group 66"/>
          <p:cNvGrpSpPr/>
          <p:nvPr/>
        </p:nvGrpSpPr>
        <p:grpSpPr>
          <a:xfrm>
            <a:off x="2364175" y="6967020"/>
            <a:ext cx="5727202" cy="1929215"/>
            <a:chOff x="0" y="0"/>
            <a:chExt cx="1508399" cy="50810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508399" cy="508106"/>
            </a:xfrm>
            <a:custGeom>
              <a:avLst/>
              <a:gdLst/>
              <a:ahLst/>
              <a:cxnLst/>
              <a:rect l="l" t="t" r="r" b="b"/>
              <a:pathLst>
                <a:path w="1508399" h="508106">
                  <a:moveTo>
                    <a:pt x="5407" y="0"/>
                  </a:moveTo>
                  <a:lnTo>
                    <a:pt x="1502992" y="0"/>
                  </a:lnTo>
                  <a:cubicBezTo>
                    <a:pt x="1504426" y="0"/>
                    <a:pt x="1505801" y="570"/>
                    <a:pt x="1506815" y="1584"/>
                  </a:cubicBezTo>
                  <a:cubicBezTo>
                    <a:pt x="1507829" y="2598"/>
                    <a:pt x="1508399" y="3973"/>
                    <a:pt x="1508399" y="5407"/>
                  </a:cubicBezTo>
                  <a:lnTo>
                    <a:pt x="1508399" y="502699"/>
                  </a:lnTo>
                  <a:cubicBezTo>
                    <a:pt x="1508399" y="505685"/>
                    <a:pt x="1505978" y="508106"/>
                    <a:pt x="1502992" y="508106"/>
                  </a:cubicBezTo>
                  <a:lnTo>
                    <a:pt x="5407" y="508106"/>
                  </a:lnTo>
                  <a:cubicBezTo>
                    <a:pt x="2421" y="508106"/>
                    <a:pt x="0" y="505685"/>
                    <a:pt x="0" y="502699"/>
                  </a:cubicBezTo>
                  <a:lnTo>
                    <a:pt x="0" y="5407"/>
                  </a:lnTo>
                  <a:cubicBezTo>
                    <a:pt x="0" y="2421"/>
                    <a:pt x="2421" y="0"/>
                    <a:pt x="5407" y="0"/>
                  </a:cubicBezTo>
                  <a:close/>
                </a:path>
              </a:pathLst>
            </a:custGeom>
            <a:solidFill>
              <a:srgbClr val="F2F5FF"/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1508399" cy="555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708082" y="3971351"/>
            <a:ext cx="1797353" cy="1797353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D45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243131" y="12679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04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580416" y="6438924"/>
            <a:ext cx="4747880" cy="12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9"/>
              </a:lnSpc>
              <a:spcBef>
                <a:spcPct val="0"/>
              </a:spcBef>
            </a:pPr>
            <a:r>
              <a:rPr lang="en-US" sz="663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[복지로 노인일자리 사업 신청 페이지]  노인 일자리 사업 신청 시 부모 이외의 보호자인 경우 온라인으로 신청 불가능하다는 문구가 뜬다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524871" y="7195620"/>
            <a:ext cx="5655122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일자리 설명이 행정 문구 중심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비교 기능 없음 - 공고 하나씩 클릭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지역 기반 필터만 가능 - 생활권 상세 필터 부재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10836737" y="6967020"/>
            <a:ext cx="6164284" cy="1929215"/>
            <a:chOff x="0" y="0"/>
            <a:chExt cx="1623515" cy="50810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623515" cy="508106"/>
            </a:xfrm>
            <a:custGeom>
              <a:avLst/>
              <a:gdLst/>
              <a:ahLst/>
              <a:cxnLst/>
              <a:rect l="l" t="t" r="r" b="b"/>
              <a:pathLst>
                <a:path w="1623515" h="508106">
                  <a:moveTo>
                    <a:pt x="5024" y="0"/>
                  </a:moveTo>
                  <a:lnTo>
                    <a:pt x="1618491" y="0"/>
                  </a:lnTo>
                  <a:cubicBezTo>
                    <a:pt x="1619824" y="0"/>
                    <a:pt x="1621102" y="529"/>
                    <a:pt x="1622044" y="1471"/>
                  </a:cubicBezTo>
                  <a:cubicBezTo>
                    <a:pt x="1622986" y="2414"/>
                    <a:pt x="1623515" y="3691"/>
                    <a:pt x="1623515" y="5024"/>
                  </a:cubicBezTo>
                  <a:lnTo>
                    <a:pt x="1623515" y="503082"/>
                  </a:lnTo>
                  <a:cubicBezTo>
                    <a:pt x="1623515" y="504415"/>
                    <a:pt x="1622986" y="505692"/>
                    <a:pt x="1622044" y="506635"/>
                  </a:cubicBezTo>
                  <a:cubicBezTo>
                    <a:pt x="1621102" y="507577"/>
                    <a:pt x="1619824" y="508106"/>
                    <a:pt x="1618491" y="508106"/>
                  </a:cubicBezTo>
                  <a:lnTo>
                    <a:pt x="5024" y="508106"/>
                  </a:lnTo>
                  <a:cubicBezTo>
                    <a:pt x="3691" y="508106"/>
                    <a:pt x="2414" y="507577"/>
                    <a:pt x="1471" y="506635"/>
                  </a:cubicBezTo>
                  <a:cubicBezTo>
                    <a:pt x="529" y="505692"/>
                    <a:pt x="0" y="504415"/>
                    <a:pt x="0" y="503082"/>
                  </a:cubicBezTo>
                  <a:lnTo>
                    <a:pt x="0" y="5024"/>
                  </a:lnTo>
                  <a:cubicBezTo>
                    <a:pt x="0" y="3691"/>
                    <a:pt x="529" y="2414"/>
                    <a:pt x="1471" y="1471"/>
                  </a:cubicBezTo>
                  <a:cubicBezTo>
                    <a:pt x="2414" y="529"/>
                    <a:pt x="3691" y="0"/>
                    <a:pt x="5024" y="0"/>
                  </a:cubicBezTo>
                  <a:close/>
                </a:path>
              </a:pathLst>
            </a:custGeom>
            <a:solidFill>
              <a:srgbClr val="F2F5FF"/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47625"/>
              <a:ext cx="1623515" cy="555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081544" y="7195620"/>
            <a:ext cx="6334891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활동강도,필요 건강상태를 필터로 제공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노인친화적 요소 정리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복지로가 제공하지 못하는 노인맞춤형 정보 구조를 보완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580415" y="1471199"/>
            <a:ext cx="14836020" cy="13386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320"/>
              </a:lnSpc>
              <a:defRPr/>
            </a:pPr>
            <a:r>
              <a:rPr lang="ko-KR" alt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기존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</a:t>
            </a:r>
            <a:r>
              <a:rPr lang="ko-KR" alt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와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차별성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-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사용자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건강·성향·거리·지역구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기반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맞춤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추천</a:t>
            </a:r>
            <a:endParaRPr lang="en-US" sz="3200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  <a:p>
            <a:pPr lvl="0" algn="l">
              <a:lnSpc>
                <a:spcPts val="5320"/>
              </a:lnSpc>
              <a:defRPr/>
            </a:pPr>
            <a:endParaRPr lang="en-US" sz="3700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80" name="Freeform 71">
            <a:extLst>
              <a:ext uri="{FF2B5EF4-FFF2-40B4-BE49-F238E27FC236}">
                <a16:creationId xmlns:a16="http://schemas.microsoft.com/office/drawing/2014/main" id="{60904552-CCAF-4CA0-3AFF-F4DE724C342F}"/>
              </a:ext>
            </a:extLst>
          </p:cNvPr>
          <p:cNvSpPr/>
          <p:nvPr/>
        </p:nvSpPr>
        <p:spPr>
          <a:xfrm>
            <a:off x="13410308" y="3153003"/>
            <a:ext cx="3074880" cy="3400927"/>
          </a:xfrm>
          <a:custGeom>
            <a:avLst/>
            <a:gdLst/>
            <a:ahLst/>
            <a:cxnLst/>
            <a:rect l="l" t="t" r="r" b="b"/>
            <a:pathLst>
              <a:path w="3074880" h="3400927">
                <a:moveTo>
                  <a:pt x="0" y="0"/>
                </a:moveTo>
                <a:lnTo>
                  <a:pt x="3074879" y="0"/>
                </a:lnTo>
                <a:lnTo>
                  <a:pt x="3074879" y="3400928"/>
                </a:lnTo>
                <a:lnTo>
                  <a:pt x="0" y="3400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Freeform 61"/>
          <p:cNvSpPr/>
          <p:nvPr/>
        </p:nvSpPr>
        <p:spPr>
          <a:xfrm>
            <a:off x="4507552" y="3111719"/>
            <a:ext cx="4690981" cy="4063562"/>
          </a:xfrm>
          <a:custGeom>
            <a:avLst/>
            <a:gdLst/>
            <a:ahLst/>
            <a:cxnLst/>
            <a:rect l="l" t="t" r="r" b="b"/>
            <a:pathLst>
              <a:path w="4690981" h="4063562">
                <a:moveTo>
                  <a:pt x="0" y="0"/>
                </a:moveTo>
                <a:lnTo>
                  <a:pt x="4690980" y="0"/>
                </a:lnTo>
                <a:lnTo>
                  <a:pt x="4690980" y="4063562"/>
                </a:lnTo>
                <a:lnTo>
                  <a:pt x="0" y="406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Freeform 62"/>
          <p:cNvSpPr/>
          <p:nvPr/>
        </p:nvSpPr>
        <p:spPr>
          <a:xfrm>
            <a:off x="9791715" y="3772928"/>
            <a:ext cx="3564663" cy="2741144"/>
          </a:xfrm>
          <a:custGeom>
            <a:avLst/>
            <a:gdLst/>
            <a:ahLst/>
            <a:cxnLst/>
            <a:rect l="l" t="t" r="r" b="b"/>
            <a:pathLst>
              <a:path w="3564663" h="2741144">
                <a:moveTo>
                  <a:pt x="0" y="0"/>
                </a:moveTo>
                <a:lnTo>
                  <a:pt x="3564663" y="0"/>
                </a:lnTo>
                <a:lnTo>
                  <a:pt x="3564663" y="2741144"/>
                </a:lnTo>
                <a:lnTo>
                  <a:pt x="0" y="2741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Freeform 63"/>
          <p:cNvSpPr/>
          <p:nvPr/>
        </p:nvSpPr>
        <p:spPr>
          <a:xfrm>
            <a:off x="5533230" y="5717143"/>
            <a:ext cx="2284540" cy="668747"/>
          </a:xfrm>
          <a:custGeom>
            <a:avLst/>
            <a:gdLst/>
            <a:ahLst/>
            <a:cxnLst/>
            <a:rect l="l" t="t" r="r" b="b"/>
            <a:pathLst>
              <a:path w="2284540" h="668747">
                <a:moveTo>
                  <a:pt x="0" y="0"/>
                </a:moveTo>
                <a:lnTo>
                  <a:pt x="2284540" y="0"/>
                </a:lnTo>
                <a:lnTo>
                  <a:pt x="2284540" y="668747"/>
                </a:lnTo>
                <a:lnTo>
                  <a:pt x="0" y="6687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4" name="TextBox 64"/>
          <p:cNvSpPr txBox="1"/>
          <p:nvPr/>
        </p:nvSpPr>
        <p:spPr>
          <a:xfrm>
            <a:off x="1243131" y="12679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580415" y="1471199"/>
            <a:ext cx="14836020" cy="133867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320"/>
              </a:lnSpc>
              <a:defRPr/>
            </a:pPr>
            <a:r>
              <a:rPr lang="ko-KR" alt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기존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</a:t>
            </a:r>
            <a:r>
              <a:rPr lang="ko-KR" alt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와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차별성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-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대리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입력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기능</a:t>
            </a:r>
            <a:r>
              <a:rPr lang="en-US" sz="3200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3200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제공</a:t>
            </a:r>
            <a:endParaRPr lang="en-US" sz="3200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  <a:p>
            <a:pPr lvl="0" algn="l">
              <a:lnSpc>
                <a:spcPts val="5320"/>
              </a:lnSpc>
              <a:defRPr/>
            </a:pPr>
            <a:endParaRPr lang="en-US" sz="3800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66" name="Freeform 66"/>
          <p:cNvSpPr/>
          <p:nvPr/>
        </p:nvSpPr>
        <p:spPr>
          <a:xfrm>
            <a:off x="5533230" y="6292230"/>
            <a:ext cx="2284540" cy="668747"/>
          </a:xfrm>
          <a:custGeom>
            <a:avLst/>
            <a:gdLst/>
            <a:ahLst/>
            <a:cxnLst/>
            <a:rect l="l" t="t" r="r" b="b"/>
            <a:pathLst>
              <a:path w="2284540" h="668747">
                <a:moveTo>
                  <a:pt x="0" y="0"/>
                </a:moveTo>
                <a:lnTo>
                  <a:pt x="2284540" y="0"/>
                </a:lnTo>
                <a:lnTo>
                  <a:pt x="2284540" y="668747"/>
                </a:lnTo>
                <a:lnTo>
                  <a:pt x="0" y="6687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67" name="Group 67"/>
          <p:cNvGrpSpPr/>
          <p:nvPr/>
        </p:nvGrpSpPr>
        <p:grpSpPr>
          <a:xfrm>
            <a:off x="3728051" y="7489606"/>
            <a:ext cx="10363390" cy="1550153"/>
            <a:chOff x="0" y="0"/>
            <a:chExt cx="2729453" cy="40827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729453" cy="408271"/>
            </a:xfrm>
            <a:custGeom>
              <a:avLst/>
              <a:gdLst/>
              <a:ahLst/>
              <a:cxnLst/>
              <a:rect l="l" t="t" r="r" b="b"/>
              <a:pathLst>
                <a:path w="2729453" h="408271">
                  <a:moveTo>
                    <a:pt x="2988" y="0"/>
                  </a:moveTo>
                  <a:lnTo>
                    <a:pt x="2726464" y="0"/>
                  </a:lnTo>
                  <a:cubicBezTo>
                    <a:pt x="2727257" y="0"/>
                    <a:pt x="2728017" y="315"/>
                    <a:pt x="2728577" y="875"/>
                  </a:cubicBezTo>
                  <a:cubicBezTo>
                    <a:pt x="2729138" y="1436"/>
                    <a:pt x="2729453" y="2196"/>
                    <a:pt x="2729453" y="2988"/>
                  </a:cubicBezTo>
                  <a:lnTo>
                    <a:pt x="2729453" y="405283"/>
                  </a:lnTo>
                  <a:cubicBezTo>
                    <a:pt x="2729453" y="406075"/>
                    <a:pt x="2729138" y="406835"/>
                    <a:pt x="2728577" y="407396"/>
                  </a:cubicBezTo>
                  <a:cubicBezTo>
                    <a:pt x="2728017" y="407956"/>
                    <a:pt x="2727257" y="408271"/>
                    <a:pt x="2726464" y="408271"/>
                  </a:cubicBezTo>
                  <a:lnTo>
                    <a:pt x="2988" y="408271"/>
                  </a:lnTo>
                  <a:cubicBezTo>
                    <a:pt x="2196" y="408271"/>
                    <a:pt x="1436" y="407956"/>
                    <a:pt x="875" y="407396"/>
                  </a:cubicBezTo>
                  <a:cubicBezTo>
                    <a:pt x="315" y="406835"/>
                    <a:pt x="0" y="406075"/>
                    <a:pt x="0" y="405283"/>
                  </a:cubicBezTo>
                  <a:lnTo>
                    <a:pt x="0" y="2988"/>
                  </a:lnTo>
                  <a:cubicBezTo>
                    <a:pt x="0" y="2196"/>
                    <a:pt x="315" y="1436"/>
                    <a:pt x="875" y="875"/>
                  </a:cubicBezTo>
                  <a:cubicBezTo>
                    <a:pt x="1436" y="315"/>
                    <a:pt x="2196" y="0"/>
                    <a:pt x="2988" y="0"/>
                  </a:cubicBezTo>
                  <a:close/>
                </a:path>
              </a:pathLst>
            </a:custGeom>
            <a:solidFill>
              <a:srgbClr val="F2F5FF"/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2729453" cy="455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5533230" y="8075770"/>
            <a:ext cx="633489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기존 프로그램들에선 없던 대리자 입력 인증 기능을 제공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2" y="4654503"/>
            <a:ext cx="6869633" cy="9461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492"/>
              </a:lnSpc>
              <a:defRPr/>
            </a:pPr>
            <a:r>
              <a:rPr lang="en-US" sz="6514" b="1" spc="-214" dirty="0" err="1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기술</a:t>
            </a:r>
            <a:r>
              <a:rPr lang="en-US" sz="6514" b="1" spc="-214" dirty="0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6514" b="1" spc="-214" dirty="0" err="1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구현</a:t>
            </a:r>
            <a:r>
              <a:rPr lang="en-US" sz="6514" b="1" spc="-214" dirty="0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및 </a:t>
            </a:r>
            <a:r>
              <a:rPr lang="en-US" sz="6514" b="1" spc="-214" dirty="0" err="1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활용</a:t>
            </a:r>
            <a:endParaRPr lang="en-US" sz="6514" b="1" spc="-214" dirty="0">
              <a:solidFill>
                <a:srgbClr val="191919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343D63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80416" y="1461674"/>
            <a:ext cx="5635122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77"/>
              </a:lnSpc>
              <a:defRPr/>
            </a:pPr>
            <a:r>
              <a:rPr lang="en-US" sz="3984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및 활용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19922" y="2549124"/>
            <a:ext cx="3228278" cy="483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0070" lvl="1" indent="-315035" algn="ctr">
              <a:lnSpc>
                <a:spcPts val="4085"/>
              </a:lnSpc>
              <a:buFont typeface="Arial"/>
              <a:buChar char="•"/>
            </a:pPr>
            <a:r>
              <a:rPr lang="en-US" sz="2918" b="1" dirty="0" err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사용</a:t>
            </a:r>
            <a:r>
              <a:rPr lang="en-US" sz="2918" b="1" dirty="0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2918" b="1" dirty="0" err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기술</a:t>
            </a:r>
            <a:r>
              <a:rPr lang="en-US" sz="2918" b="1" dirty="0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2918" b="1" dirty="0" err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개요</a:t>
            </a:r>
            <a:endParaRPr lang="en-US" sz="2918" b="1" dirty="0">
              <a:solidFill>
                <a:srgbClr val="FF3131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1754947" y="3540819"/>
            <a:ext cx="3782139" cy="82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362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Tkinter</a:t>
            </a:r>
          </a:p>
          <a:p>
            <a:pPr algn="l">
              <a:lnSpc>
                <a:spcPts val="3307"/>
              </a:lnSpc>
            </a:pPr>
            <a:r>
              <a:rPr lang="en-US" sz="2362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python 기반 GUI 프레임워크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405167" y="6713491"/>
            <a:ext cx="3349943" cy="92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666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python 딕셔너리 기반 </a:t>
            </a:r>
          </a:p>
          <a:p>
            <a:pPr algn="l">
              <a:lnSpc>
                <a:spcPts val="3733"/>
              </a:lnSpc>
            </a:pPr>
            <a:r>
              <a:rPr lang="en-US" sz="2666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데이터베이스 구축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882329" y="6747359"/>
            <a:ext cx="2682002" cy="4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666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추천 알고리즘 설계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37409" y="3730789"/>
            <a:ext cx="3616643" cy="4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666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객체지향 프로그래밍 적용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702227" y="3720897"/>
            <a:ext cx="3606880" cy="4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666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AI 기반 설계 및 개발 보조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50682" y="4650565"/>
            <a:ext cx="4789884" cy="85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기본 위젯(Text, Frame, Listbox, Combobox 등) 활용</a:t>
            </a:r>
          </a:p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여러 화면(Frame) 구조를 적용해 실제 앱 형태로 확장</a:t>
            </a:r>
          </a:p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이벤트 기반 GUI 처리 (버튼 클릭, Listbox 선택 등)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405167" y="7793121"/>
            <a:ext cx="5118735" cy="85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서울시 25개 구별 취미 프로그램 정보 저장</a:t>
            </a:r>
          </a:p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일자리 정보 구조화: 건강 요구, 거리, 시간대, 임금, 장소 등</a:t>
            </a:r>
          </a:p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JSON처럼 활용 가능한 구조로 관리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537409" y="4650565"/>
            <a:ext cx="3821073" cy="85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화면을 Frame 단위로 독립된 클래스로 구현</a:t>
            </a:r>
          </a:p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SeniorMatchingApp이 전체 화면을 관리</a:t>
            </a:r>
          </a:p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유지보수성·확장성 향상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702227" y="4590803"/>
            <a:ext cx="3191828" cy="113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화면 구조 설계</a:t>
            </a:r>
          </a:p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알고리즘 구현 방향</a:t>
            </a:r>
          </a:p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복잡한 GUI 코드 자동화</a:t>
            </a:r>
          </a:p>
          <a:p>
            <a:pPr algn="l">
              <a:lnSpc>
                <a:spcPts val="2299"/>
              </a:lnSpc>
              <a:spcBef>
                <a:spcPct val="0"/>
              </a:spcBef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→ 개발 속도 향상 및 코드 품질 개선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896600" y="7364496"/>
            <a:ext cx="4205271" cy="175092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299"/>
              </a:lnSpc>
              <a:spcBef>
                <a:spcPct val="0"/>
              </a:spcBef>
              <a:defRPr/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건강 상태</a:t>
            </a:r>
          </a:p>
          <a:p>
            <a:pPr lvl="0" algn="l">
              <a:lnSpc>
                <a:spcPts val="2299"/>
              </a:lnSpc>
              <a:spcBef>
                <a:spcPct val="0"/>
              </a:spcBef>
              <a:defRPr/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이동 가능 거리</a:t>
            </a:r>
          </a:p>
          <a:p>
            <a:pPr lvl="0" algn="l">
              <a:lnSpc>
                <a:spcPts val="2299"/>
              </a:lnSpc>
              <a:spcBef>
                <a:spcPct val="0"/>
              </a:spcBef>
              <a:defRPr/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시간대</a:t>
            </a:r>
          </a:p>
          <a:p>
            <a:pPr lvl="0" algn="l">
              <a:lnSpc>
                <a:spcPts val="2299"/>
              </a:lnSpc>
              <a:spcBef>
                <a:spcPct val="0"/>
              </a:spcBef>
              <a:defRPr/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성향(Personality)</a:t>
            </a:r>
          </a:p>
          <a:p>
            <a:pPr lvl="0" algn="l">
              <a:lnSpc>
                <a:spcPts val="2299"/>
              </a:lnSpc>
              <a:spcBef>
                <a:spcPct val="0"/>
              </a:spcBef>
              <a:defRPr/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스마트폰 활용 능력</a:t>
            </a:r>
          </a:p>
          <a:p>
            <a:pPr lvl="0" algn="l">
              <a:lnSpc>
                <a:spcPts val="2299"/>
              </a:lnSpc>
              <a:spcBef>
                <a:spcPct val="0"/>
              </a:spcBef>
              <a:defRPr/>
            </a:pPr>
            <a:r>
              <a:rPr lang="en-US" sz="16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→ 점수 기반 매칭 알고리즘으로 순위 산출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9055" y="876300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Freeform 61"/>
          <p:cNvSpPr/>
          <p:nvPr/>
        </p:nvSpPr>
        <p:spPr>
          <a:xfrm>
            <a:off x="8709884" y="2023662"/>
            <a:ext cx="3630098" cy="4393462"/>
          </a:xfrm>
          <a:custGeom>
            <a:avLst/>
            <a:gdLst/>
            <a:ahLst/>
            <a:cxnLst/>
            <a:rect l="l" t="t" r="r" b="b"/>
            <a:pathLst>
              <a:path w="3630098" h="4393462">
                <a:moveTo>
                  <a:pt x="0" y="0"/>
                </a:moveTo>
                <a:lnTo>
                  <a:pt x="3630098" y="0"/>
                </a:lnTo>
                <a:lnTo>
                  <a:pt x="3630098" y="4393462"/>
                </a:lnTo>
                <a:lnTo>
                  <a:pt x="0" y="4393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2" name="Freeform 62"/>
          <p:cNvSpPr/>
          <p:nvPr/>
        </p:nvSpPr>
        <p:spPr>
          <a:xfrm>
            <a:off x="12835282" y="2096092"/>
            <a:ext cx="3590068" cy="4248601"/>
          </a:xfrm>
          <a:custGeom>
            <a:avLst/>
            <a:gdLst/>
            <a:ahLst/>
            <a:cxnLst/>
            <a:rect l="l" t="t" r="r" b="b"/>
            <a:pathLst>
              <a:path w="3590068" h="4248601">
                <a:moveTo>
                  <a:pt x="0" y="0"/>
                </a:moveTo>
                <a:lnTo>
                  <a:pt x="3590067" y="0"/>
                </a:lnTo>
                <a:lnTo>
                  <a:pt x="3590067" y="4248601"/>
                </a:lnTo>
                <a:lnTo>
                  <a:pt x="0" y="4248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3" name="Freeform 63"/>
          <p:cNvSpPr/>
          <p:nvPr/>
        </p:nvSpPr>
        <p:spPr>
          <a:xfrm>
            <a:off x="2861412" y="3494173"/>
            <a:ext cx="3547375" cy="3819515"/>
          </a:xfrm>
          <a:custGeom>
            <a:avLst/>
            <a:gdLst/>
            <a:ahLst/>
            <a:cxnLst/>
            <a:rect l="l" t="t" r="r" b="b"/>
            <a:pathLst>
              <a:path w="3547375" h="3819515">
                <a:moveTo>
                  <a:pt x="0" y="0"/>
                </a:moveTo>
                <a:lnTo>
                  <a:pt x="3547374" y="0"/>
                </a:lnTo>
                <a:lnTo>
                  <a:pt x="3547374" y="3819515"/>
                </a:lnTo>
                <a:lnTo>
                  <a:pt x="0" y="38195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4" name="TextBox 64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580416" y="1461674"/>
            <a:ext cx="5635122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77"/>
              </a:lnSpc>
              <a:defRPr/>
            </a:pPr>
            <a:r>
              <a:rPr lang="en-US" sz="3984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및 활용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78986" y="2549124"/>
            <a:ext cx="4026413" cy="497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0070" lvl="1" indent="-315035" algn="ctr">
              <a:lnSpc>
                <a:spcPts val="4085"/>
              </a:lnSpc>
              <a:buFont typeface="Arial"/>
              <a:buChar char="•"/>
            </a:pPr>
            <a:r>
              <a:rPr lang="en-US" sz="2918" b="1" dirty="0" err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시스템</a:t>
            </a:r>
            <a:r>
              <a:rPr lang="en-US" sz="2918" b="1" dirty="0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2918" b="1" dirty="0" err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데이터</a:t>
            </a:r>
            <a:r>
              <a:rPr lang="en-US" sz="2918" b="1" dirty="0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2918" b="1" dirty="0" err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수집</a:t>
            </a:r>
            <a:endParaRPr lang="en-US" sz="2918" b="1" dirty="0">
              <a:solidFill>
                <a:srgbClr val="FF3131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0875930" y="6829261"/>
            <a:ext cx="3297270" cy="390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400" b="1" dirty="0" err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취미</a:t>
            </a:r>
            <a:r>
              <a:rPr lang="en-US" sz="2400" b="1" dirty="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데이터베이스</a:t>
            </a:r>
            <a:r>
              <a:rPr lang="en-US" sz="2400" b="1" dirty="0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구성</a:t>
            </a:r>
            <a:endParaRPr lang="en-US" sz="2400" b="1" dirty="0">
              <a:solidFill>
                <a:srgbClr val="000000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3198980" y="7535384"/>
            <a:ext cx="3209806" cy="40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2366" b="1">
                <a:solidFill>
                  <a:srgbClr val="00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일자리 데이터베이스 구성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072462" y="7387851"/>
            <a:ext cx="4786538" cy="708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서울 25개구 노인 취미 프로그램 데이터</a:t>
            </a:r>
          </a:p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서울시 노인복지센터에서 가져온 데이터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861412" y="8161069"/>
            <a:ext cx="4377588" cy="3492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샘플 데이터 구성해 데이터베이스 생성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80416" y="1461674"/>
            <a:ext cx="5635122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77"/>
              </a:lnSpc>
              <a:defRPr/>
            </a:pPr>
            <a:r>
              <a:rPr lang="en-US" sz="3984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및 활용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49275" y="2573125"/>
            <a:ext cx="3467102" cy="49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70" lvl="1" indent="-315035" algn="l">
              <a:lnSpc>
                <a:spcPts val="4085"/>
              </a:lnSpc>
              <a:buFont typeface="Arial"/>
              <a:buChar char="•"/>
            </a:pPr>
            <a:r>
              <a:rPr lang="en-US" sz="2918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전체 시스템 구조</a:t>
            </a:r>
          </a:p>
        </p:txBody>
      </p:sp>
      <p:grpSp>
        <p:nvGrpSpPr>
          <p:cNvPr id="64" name="Group 64"/>
          <p:cNvGrpSpPr/>
          <p:nvPr/>
        </p:nvGrpSpPr>
        <p:grpSpPr>
          <a:xfrm rot="10800000">
            <a:off x="1951886" y="3474202"/>
            <a:ext cx="5861386" cy="683537"/>
            <a:chOff x="0" y="0"/>
            <a:chExt cx="18527560" cy="217805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8527560" cy="2178050"/>
            </a:xfrm>
            <a:custGeom>
              <a:avLst/>
              <a:gdLst/>
              <a:ahLst/>
              <a:cxnLst/>
              <a:rect l="l" t="t" r="r" b="b"/>
              <a:pathLst>
                <a:path w="18527560" h="2178050">
                  <a:moveTo>
                    <a:pt x="18527560" y="0"/>
                  </a:moveTo>
                  <a:lnTo>
                    <a:pt x="18527560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185275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462145" y="3371519"/>
            <a:ext cx="894658" cy="888902"/>
            <a:chOff x="0" y="0"/>
            <a:chExt cx="735568" cy="73083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35568" cy="730836"/>
            </a:xfrm>
            <a:custGeom>
              <a:avLst/>
              <a:gdLst/>
              <a:ahLst/>
              <a:cxnLst/>
              <a:rect l="l" t="t" r="r" b="b"/>
              <a:pathLst>
                <a:path w="735568" h="730836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D45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799" b="1" spc="-5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2580416" y="3499057"/>
            <a:ext cx="2423115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시작 화면</a:t>
            </a:r>
          </a:p>
        </p:txBody>
      </p:sp>
      <p:grpSp>
        <p:nvGrpSpPr>
          <p:cNvPr id="70" name="Group 70"/>
          <p:cNvGrpSpPr/>
          <p:nvPr/>
        </p:nvGrpSpPr>
        <p:grpSpPr>
          <a:xfrm rot="-10800000">
            <a:off x="3143564" y="4412893"/>
            <a:ext cx="5345753" cy="683537"/>
            <a:chOff x="0" y="0"/>
            <a:chExt cx="17033926" cy="217805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7033926" cy="2178050"/>
            </a:xfrm>
            <a:custGeom>
              <a:avLst/>
              <a:gdLst/>
              <a:ahLst/>
              <a:cxnLst/>
              <a:rect l="l" t="t" r="r" b="b"/>
              <a:pathLst>
                <a:path w="17033926" h="2178050">
                  <a:moveTo>
                    <a:pt x="17033926" y="0"/>
                  </a:moveTo>
                  <a:lnTo>
                    <a:pt x="17033926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170339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2" name="Group 72"/>
          <p:cNvGrpSpPr/>
          <p:nvPr/>
        </p:nvGrpSpPr>
        <p:grpSpPr>
          <a:xfrm rot="10800000">
            <a:off x="5792423" y="5301795"/>
            <a:ext cx="6932978" cy="683537"/>
            <a:chOff x="0" y="0"/>
            <a:chExt cx="21359208" cy="217805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1359208" cy="2178050"/>
            </a:xfrm>
            <a:custGeom>
              <a:avLst/>
              <a:gdLst/>
              <a:ahLst/>
              <a:cxnLst/>
              <a:rect l="l" t="t" r="r" b="b"/>
              <a:pathLst>
                <a:path w="21359208" h="2178050">
                  <a:moveTo>
                    <a:pt x="21359208" y="0"/>
                  </a:moveTo>
                  <a:lnTo>
                    <a:pt x="21359208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213592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4" name="Group 74"/>
          <p:cNvGrpSpPr/>
          <p:nvPr/>
        </p:nvGrpSpPr>
        <p:grpSpPr>
          <a:xfrm rot="10800000">
            <a:off x="7634741" y="6160907"/>
            <a:ext cx="7138360" cy="683537"/>
            <a:chOff x="0" y="0"/>
            <a:chExt cx="21484960" cy="217805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1484958" cy="2178050"/>
            </a:xfrm>
            <a:custGeom>
              <a:avLst/>
              <a:gdLst/>
              <a:ahLst/>
              <a:cxnLst/>
              <a:rect l="l" t="t" r="r" b="b"/>
              <a:pathLst>
                <a:path w="21484958" h="2178050">
                  <a:moveTo>
                    <a:pt x="21484958" y="0"/>
                  </a:moveTo>
                  <a:lnTo>
                    <a:pt x="21484958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2148495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6" name="Group 76"/>
          <p:cNvGrpSpPr/>
          <p:nvPr/>
        </p:nvGrpSpPr>
        <p:grpSpPr>
          <a:xfrm rot="10800000">
            <a:off x="9692375" y="7001689"/>
            <a:ext cx="6936180" cy="683537"/>
            <a:chOff x="0" y="0"/>
            <a:chExt cx="21325592" cy="217805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1325592" cy="2178050"/>
            </a:xfrm>
            <a:custGeom>
              <a:avLst/>
              <a:gdLst/>
              <a:ahLst/>
              <a:cxnLst/>
              <a:rect l="l" t="t" r="r" b="b"/>
              <a:pathLst>
                <a:path w="21325592" h="2178050">
                  <a:moveTo>
                    <a:pt x="21325592" y="0"/>
                  </a:moveTo>
                  <a:lnTo>
                    <a:pt x="21325592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2132559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8" name="Group 78"/>
          <p:cNvGrpSpPr/>
          <p:nvPr/>
        </p:nvGrpSpPr>
        <p:grpSpPr>
          <a:xfrm rot="-10800000">
            <a:off x="11384222" y="7829151"/>
            <a:ext cx="5486243" cy="683537"/>
            <a:chOff x="0" y="0"/>
            <a:chExt cx="17481590" cy="217805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7481590" cy="2178050"/>
            </a:xfrm>
            <a:custGeom>
              <a:avLst/>
              <a:gdLst/>
              <a:ahLst/>
              <a:cxnLst/>
              <a:rect l="l" t="t" r="r" b="b"/>
              <a:pathLst>
                <a:path w="17481590" h="2178050">
                  <a:moveTo>
                    <a:pt x="17481590" y="0"/>
                  </a:moveTo>
                  <a:lnTo>
                    <a:pt x="17481590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1748159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4375002" y="3786532"/>
            <a:ext cx="3473598" cy="26441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084"/>
              </a:lnSpc>
              <a:spcBef>
                <a:spcPct val="0"/>
              </a:spcBef>
              <a:defRPr/>
            </a:pPr>
            <a:r>
              <a:rPr lang="en-US" sz="148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사용자 유형 선택(본인 / 가족 / 복지사)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2696235" y="4310210"/>
            <a:ext cx="894658" cy="888902"/>
            <a:chOff x="0" y="0"/>
            <a:chExt cx="735568" cy="73083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735568" cy="730836"/>
            </a:xfrm>
            <a:custGeom>
              <a:avLst/>
              <a:gdLst/>
              <a:ahLst/>
              <a:cxnLst/>
              <a:rect l="l" t="t" r="r" b="b"/>
              <a:pathLst>
                <a:path w="735568" h="730836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D45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799" b="1" spc="-5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063852" y="5199112"/>
            <a:ext cx="894658" cy="888902"/>
            <a:chOff x="0" y="0"/>
            <a:chExt cx="735568" cy="73083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35568" cy="730836"/>
            </a:xfrm>
            <a:custGeom>
              <a:avLst/>
              <a:gdLst/>
              <a:ahLst/>
              <a:cxnLst/>
              <a:rect l="l" t="t" r="r" b="b"/>
              <a:pathLst>
                <a:path w="735568" h="730836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D45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799" b="1" spc="-5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977509" y="6084212"/>
            <a:ext cx="894658" cy="888902"/>
            <a:chOff x="0" y="0"/>
            <a:chExt cx="735568" cy="730836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35568" cy="730836"/>
            </a:xfrm>
            <a:custGeom>
              <a:avLst/>
              <a:gdLst/>
              <a:ahLst/>
              <a:cxnLst/>
              <a:rect l="l" t="t" r="r" b="b"/>
              <a:pathLst>
                <a:path w="735568" h="730836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D45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799" b="1" spc="-5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062153" y="6796324"/>
            <a:ext cx="894658" cy="888902"/>
            <a:chOff x="0" y="0"/>
            <a:chExt cx="735568" cy="730836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735568" cy="730836"/>
            </a:xfrm>
            <a:custGeom>
              <a:avLst/>
              <a:gdLst/>
              <a:ahLst/>
              <a:cxnLst/>
              <a:rect l="l" t="t" r="r" b="b"/>
              <a:pathLst>
                <a:path w="735568" h="730836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D45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799" b="1" spc="-5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0726990" y="7685226"/>
            <a:ext cx="894658" cy="888902"/>
            <a:chOff x="0" y="0"/>
            <a:chExt cx="735568" cy="730836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35568" cy="730836"/>
            </a:xfrm>
            <a:custGeom>
              <a:avLst/>
              <a:gdLst/>
              <a:ahLst/>
              <a:cxnLst/>
              <a:rect l="l" t="t" r="r" b="b"/>
              <a:pathLst>
                <a:path w="735568" h="730836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D45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799" b="1" spc="-5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3791973" y="4437748"/>
            <a:ext cx="2423115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인증 화면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069773" y="5374206"/>
            <a:ext cx="3147185" cy="526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ko-KR" altLang="en-US" sz="3171" b="1" dirty="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프로필 저장</a:t>
            </a:r>
            <a:r>
              <a:rPr lang="en-US" sz="3171" b="1" dirty="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3171" b="1" dirty="0" err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화면</a:t>
            </a:r>
            <a:endParaRPr lang="en-US" sz="3171" b="1" dirty="0">
              <a:solidFill>
                <a:srgbClr val="00000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98" name="TextBox 98"/>
          <p:cNvSpPr txBox="1"/>
          <p:nvPr/>
        </p:nvSpPr>
        <p:spPr>
          <a:xfrm>
            <a:off x="7989794" y="6211750"/>
            <a:ext cx="2854823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메인 메뉴 화면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072462" y="7019607"/>
            <a:ext cx="2423115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추천 화면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828355" y="7894776"/>
            <a:ext cx="2423115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결과 화면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611035" y="4679729"/>
            <a:ext cx="2999565" cy="26441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084"/>
              </a:lnSpc>
              <a:spcBef>
                <a:spcPct val="0"/>
              </a:spcBef>
              <a:defRPr/>
            </a:pPr>
            <a:r>
              <a:rPr lang="en-US" sz="148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대리</a:t>
            </a:r>
            <a:r>
              <a:rPr lang="en-US" sz="148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입력 시 인증코드 확인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901558" y="5717824"/>
            <a:ext cx="4764922" cy="27076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159"/>
              </a:lnSpc>
              <a:spcBef>
                <a:spcPct val="0"/>
              </a:spcBef>
              <a:defRPr/>
            </a:pPr>
            <a:r>
              <a:rPr lang="en-US" sz="1542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지역·나이·건강·거리·시간대·성향</a:t>
            </a:r>
            <a:r>
              <a:rPr lang="en-US" sz="1542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542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프로필</a:t>
            </a:r>
            <a:r>
              <a:rPr lang="en-US" sz="1542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542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입력</a:t>
            </a:r>
            <a:r>
              <a:rPr lang="en-US" sz="1542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및 </a:t>
            </a:r>
            <a:r>
              <a:rPr lang="en-US" sz="1542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저장</a:t>
            </a:r>
            <a:endParaRPr lang="en-US" sz="1542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103" name="TextBox 103"/>
          <p:cNvSpPr txBox="1"/>
          <p:nvPr/>
        </p:nvSpPr>
        <p:spPr>
          <a:xfrm>
            <a:off x="10623394" y="6490563"/>
            <a:ext cx="4007006" cy="25313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1960"/>
              </a:lnSpc>
              <a:spcBef>
                <a:spcPct val="0"/>
              </a:spcBef>
              <a:defRPr/>
            </a:pPr>
            <a:r>
              <a:rPr lang="en-US" sz="1400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 메뉴 선택(취미 / 일자리 / 최근 추천 보기)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1828354" y="7298420"/>
            <a:ext cx="4707045" cy="2549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1960"/>
              </a:lnSpc>
              <a:spcBef>
                <a:spcPct val="0"/>
              </a:spcBef>
              <a:defRPr/>
            </a:pPr>
            <a:r>
              <a:rPr lang="en-US" sz="1400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 목록 제공 → 상세 정보 → 즐겨찾기/예약/담당자 연결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3598918" y="8132820"/>
            <a:ext cx="3165083" cy="250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1960"/>
              </a:lnSpc>
              <a:spcBef>
                <a:spcPct val="0"/>
              </a:spcBef>
              <a:defRPr/>
            </a:pPr>
            <a:r>
              <a:rPr lang="en-US" sz="1400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최근 추천 결과 + 즐겨찾기 목록 조회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2696235" y="4310210"/>
            <a:ext cx="894658" cy="888902"/>
            <a:chOff x="0" y="0"/>
            <a:chExt cx="735568" cy="73083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35568" cy="730836"/>
            </a:xfrm>
            <a:custGeom>
              <a:avLst/>
              <a:gdLst/>
              <a:ahLst/>
              <a:cxnLst/>
              <a:rect l="l" t="t" r="r" b="b"/>
              <a:pathLst>
                <a:path w="735568" h="730836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D45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799" b="1" spc="-5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063852" y="5199112"/>
            <a:ext cx="894658" cy="888902"/>
            <a:chOff x="0" y="0"/>
            <a:chExt cx="735568" cy="73083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35568" cy="730836"/>
            </a:xfrm>
            <a:custGeom>
              <a:avLst/>
              <a:gdLst/>
              <a:ahLst/>
              <a:cxnLst/>
              <a:rect l="l" t="t" r="r" b="b"/>
              <a:pathLst>
                <a:path w="735568" h="730836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D45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2799" b="1" spc="-5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sp>
        <p:nvSpPr>
          <p:cNvPr id="67" name="Freeform 67"/>
          <p:cNvSpPr/>
          <p:nvPr/>
        </p:nvSpPr>
        <p:spPr>
          <a:xfrm>
            <a:off x="8509317" y="3311212"/>
            <a:ext cx="3564663" cy="2741144"/>
          </a:xfrm>
          <a:custGeom>
            <a:avLst/>
            <a:gdLst/>
            <a:ahLst/>
            <a:cxnLst/>
            <a:rect l="l" t="t" r="r" b="b"/>
            <a:pathLst>
              <a:path w="3564663" h="2741144">
                <a:moveTo>
                  <a:pt x="0" y="0"/>
                </a:moveTo>
                <a:lnTo>
                  <a:pt x="3564663" y="0"/>
                </a:lnTo>
                <a:lnTo>
                  <a:pt x="3564663" y="2741144"/>
                </a:lnTo>
                <a:lnTo>
                  <a:pt x="0" y="2741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8" name="Freeform 68"/>
          <p:cNvSpPr/>
          <p:nvPr/>
        </p:nvSpPr>
        <p:spPr>
          <a:xfrm>
            <a:off x="11496584" y="4638357"/>
            <a:ext cx="3526547" cy="2827998"/>
          </a:xfrm>
          <a:custGeom>
            <a:avLst/>
            <a:gdLst/>
            <a:ahLst/>
            <a:cxnLst/>
            <a:rect l="l" t="t" r="r" b="b"/>
            <a:pathLst>
              <a:path w="3526547" h="2827998">
                <a:moveTo>
                  <a:pt x="0" y="0"/>
                </a:moveTo>
                <a:lnTo>
                  <a:pt x="3526546" y="0"/>
                </a:lnTo>
                <a:lnTo>
                  <a:pt x="3526546" y="2827998"/>
                </a:lnTo>
                <a:lnTo>
                  <a:pt x="0" y="2827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9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04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580416" y="1461674"/>
            <a:ext cx="5635122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77"/>
              </a:lnSpc>
              <a:defRPr/>
            </a:pPr>
            <a:r>
              <a:rPr lang="en-US" sz="3984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및 활용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249275" y="2573125"/>
            <a:ext cx="3467102" cy="49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70" lvl="1" indent="-315035" algn="l">
              <a:lnSpc>
                <a:spcPts val="4085"/>
              </a:lnSpc>
              <a:buFont typeface="Arial"/>
              <a:buChar char="•"/>
            </a:pPr>
            <a:r>
              <a:rPr lang="en-US" sz="2918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전체 시스템 구조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285543" y="7711674"/>
            <a:ext cx="2423115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시작 화면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438400" y="8478850"/>
            <a:ext cx="3309033" cy="2651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084"/>
              </a:lnSpc>
              <a:spcBef>
                <a:spcPct val="0"/>
              </a:spcBef>
              <a:defRPr/>
            </a:pPr>
            <a:r>
              <a:rPr lang="en-US" sz="148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사용자 유형 선택(본인 / 가족 / 복지사)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285026" y="7711674"/>
            <a:ext cx="2423115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인증 화면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100220" y="8459800"/>
            <a:ext cx="2548980" cy="2651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084"/>
              </a:lnSpc>
              <a:spcBef>
                <a:spcPct val="0"/>
              </a:spcBef>
              <a:defRPr/>
            </a:pPr>
            <a:r>
              <a:rPr lang="en-US" sz="1489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대리</a:t>
            </a:r>
            <a:r>
              <a:rPr lang="en-US" sz="148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입력 시 인증코드 확인</a:t>
            </a:r>
          </a:p>
        </p:txBody>
      </p:sp>
      <p:sp>
        <p:nvSpPr>
          <p:cNvPr id="76" name="Freeform 61"/>
          <p:cNvSpPr/>
          <p:nvPr/>
        </p:nvSpPr>
        <p:spPr>
          <a:xfrm>
            <a:off x="1905000" y="3390900"/>
            <a:ext cx="4690981" cy="4063562"/>
          </a:xfrm>
          <a:custGeom>
            <a:avLst/>
            <a:gdLst/>
            <a:ahLst/>
            <a:cxnLst/>
            <a:rect l="l" t="t" r="r" b="b"/>
            <a:pathLst>
              <a:path w="4690981" h="4063562">
                <a:moveTo>
                  <a:pt x="0" y="0"/>
                </a:moveTo>
                <a:lnTo>
                  <a:pt x="4690980" y="0"/>
                </a:lnTo>
                <a:lnTo>
                  <a:pt x="4690980" y="4063562"/>
                </a:lnTo>
                <a:lnTo>
                  <a:pt x="0" y="4063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Freeform 61"/>
          <p:cNvSpPr/>
          <p:nvPr/>
        </p:nvSpPr>
        <p:spPr>
          <a:xfrm>
            <a:off x="2483933" y="3302559"/>
            <a:ext cx="2712115" cy="2568597"/>
          </a:xfrm>
          <a:custGeom>
            <a:avLst/>
            <a:gdLst/>
            <a:ahLst/>
            <a:cxnLst/>
            <a:rect l="l" t="t" r="r" b="b"/>
            <a:pathLst>
              <a:path w="2712115" h="2568597">
                <a:moveTo>
                  <a:pt x="0" y="0"/>
                </a:moveTo>
                <a:lnTo>
                  <a:pt x="2712115" y="0"/>
                </a:lnTo>
                <a:lnTo>
                  <a:pt x="2712115" y="2568598"/>
                </a:lnTo>
                <a:lnTo>
                  <a:pt x="0" y="2568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2" name="Freeform 62"/>
          <p:cNvSpPr/>
          <p:nvPr/>
        </p:nvSpPr>
        <p:spPr>
          <a:xfrm>
            <a:off x="4881701" y="4965776"/>
            <a:ext cx="2860024" cy="2651871"/>
          </a:xfrm>
          <a:custGeom>
            <a:avLst/>
            <a:gdLst/>
            <a:ahLst/>
            <a:cxnLst/>
            <a:rect l="l" t="t" r="r" b="b"/>
            <a:pathLst>
              <a:path w="2860024" h="2651871">
                <a:moveTo>
                  <a:pt x="0" y="0"/>
                </a:moveTo>
                <a:lnTo>
                  <a:pt x="2860024" y="0"/>
                </a:lnTo>
                <a:lnTo>
                  <a:pt x="2860024" y="2651871"/>
                </a:lnTo>
                <a:lnTo>
                  <a:pt x="0" y="2651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3" name="Freeform 63"/>
          <p:cNvSpPr/>
          <p:nvPr/>
        </p:nvSpPr>
        <p:spPr>
          <a:xfrm>
            <a:off x="10266927" y="2922479"/>
            <a:ext cx="3694812" cy="4086595"/>
          </a:xfrm>
          <a:custGeom>
            <a:avLst/>
            <a:gdLst/>
            <a:ahLst/>
            <a:cxnLst/>
            <a:rect l="l" t="t" r="r" b="b"/>
            <a:pathLst>
              <a:path w="3694812" h="4086595">
                <a:moveTo>
                  <a:pt x="0" y="0"/>
                </a:moveTo>
                <a:lnTo>
                  <a:pt x="3694812" y="0"/>
                </a:lnTo>
                <a:lnTo>
                  <a:pt x="3694812" y="4086595"/>
                </a:lnTo>
                <a:lnTo>
                  <a:pt x="0" y="40865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4" name="TextBox 64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580416" y="1461674"/>
            <a:ext cx="5635122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77"/>
              </a:lnSpc>
              <a:defRPr/>
            </a:pPr>
            <a:r>
              <a:rPr lang="en-US" sz="3984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및 활용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49275" y="2573125"/>
            <a:ext cx="3467102" cy="49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70" lvl="1" indent="-315035" algn="l">
              <a:lnSpc>
                <a:spcPts val="4085"/>
              </a:lnSpc>
              <a:buFont typeface="Arial"/>
              <a:buChar char="•"/>
            </a:pPr>
            <a:r>
              <a:rPr lang="en-US" sz="2918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전체 시스템 구조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670143" y="7712897"/>
            <a:ext cx="2423115" cy="52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ko-KR" altLang="en-US" sz="3171" b="1" dirty="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프로필 </a:t>
            </a:r>
            <a:r>
              <a:rPr lang="en-US" sz="3171" b="1" dirty="0" err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화면</a:t>
            </a:r>
            <a:endParaRPr lang="en-US" sz="3171" b="1" dirty="0">
              <a:solidFill>
                <a:srgbClr val="00000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0686921" y="7712897"/>
            <a:ext cx="2854823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메인 메뉴 화면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552773" y="8407542"/>
            <a:ext cx="4610027" cy="2697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159"/>
              </a:lnSpc>
              <a:spcBef>
                <a:spcPct val="0"/>
              </a:spcBef>
              <a:defRPr/>
            </a:pPr>
            <a:r>
              <a:rPr lang="en-US" sz="1542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지역·나이·건강·거리·시간대·성향 프로필 입력 및 저장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351850" y="8415257"/>
            <a:ext cx="4049950" cy="2524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1960"/>
              </a:lnSpc>
              <a:spcBef>
                <a:spcPct val="0"/>
              </a:spcBef>
              <a:defRPr/>
            </a:pPr>
            <a:r>
              <a:rPr lang="en-US" sz="1400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 메뉴 선택(취미 / 일자리 / 최근 추천 보기)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Freeform 61"/>
          <p:cNvSpPr/>
          <p:nvPr/>
        </p:nvSpPr>
        <p:spPr>
          <a:xfrm>
            <a:off x="1419733" y="3527699"/>
            <a:ext cx="3667052" cy="3052821"/>
          </a:xfrm>
          <a:custGeom>
            <a:avLst/>
            <a:gdLst/>
            <a:ahLst/>
            <a:cxnLst/>
            <a:rect l="l" t="t" r="r" b="b"/>
            <a:pathLst>
              <a:path w="3667052" h="3052821">
                <a:moveTo>
                  <a:pt x="0" y="0"/>
                </a:moveTo>
                <a:lnTo>
                  <a:pt x="3667052" y="0"/>
                </a:lnTo>
                <a:lnTo>
                  <a:pt x="3667052" y="3052821"/>
                </a:lnTo>
                <a:lnTo>
                  <a:pt x="0" y="3052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2" name="Freeform 62"/>
          <p:cNvSpPr/>
          <p:nvPr/>
        </p:nvSpPr>
        <p:spPr>
          <a:xfrm>
            <a:off x="5397977" y="3527699"/>
            <a:ext cx="3425325" cy="3052821"/>
          </a:xfrm>
          <a:custGeom>
            <a:avLst/>
            <a:gdLst/>
            <a:ahLst/>
            <a:cxnLst/>
            <a:rect l="l" t="t" r="r" b="b"/>
            <a:pathLst>
              <a:path w="3425325" h="3052821">
                <a:moveTo>
                  <a:pt x="0" y="0"/>
                </a:moveTo>
                <a:lnTo>
                  <a:pt x="3425325" y="0"/>
                </a:lnTo>
                <a:lnTo>
                  <a:pt x="3425325" y="3052821"/>
                </a:lnTo>
                <a:lnTo>
                  <a:pt x="0" y="3052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3" name="Freeform 63"/>
          <p:cNvSpPr/>
          <p:nvPr/>
        </p:nvSpPr>
        <p:spPr>
          <a:xfrm>
            <a:off x="11460111" y="3245795"/>
            <a:ext cx="3928984" cy="3334725"/>
          </a:xfrm>
          <a:custGeom>
            <a:avLst/>
            <a:gdLst/>
            <a:ahLst/>
            <a:cxnLst/>
            <a:rect l="l" t="t" r="r" b="b"/>
            <a:pathLst>
              <a:path w="3928984" h="3334725">
                <a:moveTo>
                  <a:pt x="0" y="0"/>
                </a:moveTo>
                <a:lnTo>
                  <a:pt x="3928984" y="0"/>
                </a:lnTo>
                <a:lnTo>
                  <a:pt x="3928984" y="3334725"/>
                </a:lnTo>
                <a:lnTo>
                  <a:pt x="0" y="3334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4" name="TextBox 64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580416" y="1461674"/>
            <a:ext cx="5635122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77"/>
              </a:lnSpc>
              <a:defRPr/>
            </a:pPr>
            <a:r>
              <a:rPr lang="en-US" sz="3984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및 활용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49275" y="2573125"/>
            <a:ext cx="3467102" cy="49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70" lvl="1" indent="-315035" algn="l">
              <a:lnSpc>
                <a:spcPts val="4085"/>
              </a:lnSpc>
              <a:buFont typeface="Arial"/>
              <a:buChar char="•"/>
            </a:pPr>
            <a:r>
              <a:rPr lang="en-US" sz="2918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전체 시스템 구조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186419" y="6925489"/>
            <a:ext cx="2423115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추천 화면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595780" y="6887923"/>
            <a:ext cx="2423115" cy="5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171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결과 화면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885736" y="7685006"/>
            <a:ext cx="4810464" cy="2501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1960"/>
              </a:lnSpc>
              <a:spcBef>
                <a:spcPct val="0"/>
              </a:spcBef>
              <a:defRPr/>
            </a:pPr>
            <a:r>
              <a:rPr lang="en-US" sz="1400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 목록 제공 → 상세 정보 → 즐겨찾기/예약/담당자 연결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031572" y="7578961"/>
            <a:ext cx="3132228" cy="25058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1960"/>
              </a:lnSpc>
              <a:spcBef>
                <a:spcPct val="0"/>
              </a:spcBef>
              <a:defRPr/>
            </a:pPr>
            <a:r>
              <a:rPr lang="en-US" sz="1400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최근 추천 결과 + 즐겨찾기 목록 조회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80416" y="1461674"/>
            <a:ext cx="5635122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77"/>
              </a:lnSpc>
              <a:defRPr/>
            </a:pPr>
            <a:r>
              <a:rPr lang="en-US" sz="3984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기술 구현 및 활용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7578679" y="4435840"/>
            <a:ext cx="3305030" cy="3305030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32002" tIns="32002" rIns="32002" bIns="32002" rtlCol="0" anchor="ctr"/>
            <a:lstStyle/>
            <a:p>
              <a:pPr algn="ctr">
                <a:lnSpc>
                  <a:spcPts val="1133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757067" y="3858777"/>
            <a:ext cx="4087386" cy="2068313"/>
            <a:chOff x="0" y="0"/>
            <a:chExt cx="1076513" cy="544741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76513" cy="544741"/>
            </a:xfrm>
            <a:custGeom>
              <a:avLst/>
              <a:gdLst/>
              <a:ahLst/>
              <a:cxnLst/>
              <a:rect l="l" t="t" r="r" b="b"/>
              <a:pathLst>
                <a:path w="1076513" h="544741">
                  <a:moveTo>
                    <a:pt x="37882" y="0"/>
                  </a:moveTo>
                  <a:lnTo>
                    <a:pt x="1038631" y="0"/>
                  </a:lnTo>
                  <a:cubicBezTo>
                    <a:pt x="1059553" y="0"/>
                    <a:pt x="1076513" y="16960"/>
                    <a:pt x="1076513" y="37882"/>
                  </a:cubicBezTo>
                  <a:lnTo>
                    <a:pt x="1076513" y="506859"/>
                  </a:lnTo>
                  <a:cubicBezTo>
                    <a:pt x="1076513" y="516906"/>
                    <a:pt x="1072522" y="526541"/>
                    <a:pt x="1065418" y="533646"/>
                  </a:cubicBezTo>
                  <a:cubicBezTo>
                    <a:pt x="1058313" y="540750"/>
                    <a:pt x="1048678" y="544741"/>
                    <a:pt x="1038631" y="544741"/>
                  </a:cubicBezTo>
                  <a:lnTo>
                    <a:pt x="37882" y="544741"/>
                  </a:lnTo>
                  <a:cubicBezTo>
                    <a:pt x="27835" y="544741"/>
                    <a:pt x="18200" y="540750"/>
                    <a:pt x="11095" y="533646"/>
                  </a:cubicBezTo>
                  <a:cubicBezTo>
                    <a:pt x="3991" y="526541"/>
                    <a:pt x="0" y="516906"/>
                    <a:pt x="0" y="506859"/>
                  </a:cubicBezTo>
                  <a:lnTo>
                    <a:pt x="0" y="37882"/>
                  </a:lnTo>
                  <a:cubicBezTo>
                    <a:pt x="0" y="27835"/>
                    <a:pt x="3991" y="18200"/>
                    <a:pt x="11095" y="11095"/>
                  </a:cubicBezTo>
                  <a:cubicBezTo>
                    <a:pt x="18200" y="3991"/>
                    <a:pt x="27835" y="0"/>
                    <a:pt x="37882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076513" cy="582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830312" y="6498590"/>
            <a:ext cx="4014141" cy="1962536"/>
            <a:chOff x="0" y="0"/>
            <a:chExt cx="1057222" cy="51688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57222" cy="516882"/>
            </a:xfrm>
            <a:custGeom>
              <a:avLst/>
              <a:gdLst/>
              <a:ahLst/>
              <a:cxnLst/>
              <a:rect l="l" t="t" r="r" b="b"/>
              <a:pathLst>
                <a:path w="1057222" h="516882">
                  <a:moveTo>
                    <a:pt x="38573" y="0"/>
                  </a:moveTo>
                  <a:lnTo>
                    <a:pt x="1018649" y="0"/>
                  </a:lnTo>
                  <a:cubicBezTo>
                    <a:pt x="1039953" y="0"/>
                    <a:pt x="1057222" y="17270"/>
                    <a:pt x="1057222" y="38573"/>
                  </a:cubicBezTo>
                  <a:lnTo>
                    <a:pt x="1057222" y="478309"/>
                  </a:lnTo>
                  <a:cubicBezTo>
                    <a:pt x="1057222" y="499612"/>
                    <a:pt x="1039953" y="516882"/>
                    <a:pt x="1018649" y="516882"/>
                  </a:cubicBezTo>
                  <a:lnTo>
                    <a:pt x="38573" y="516882"/>
                  </a:lnTo>
                  <a:cubicBezTo>
                    <a:pt x="28343" y="516882"/>
                    <a:pt x="18532" y="512818"/>
                    <a:pt x="11298" y="505584"/>
                  </a:cubicBezTo>
                  <a:cubicBezTo>
                    <a:pt x="4064" y="498350"/>
                    <a:pt x="0" y="488539"/>
                    <a:pt x="0" y="478309"/>
                  </a:cubicBezTo>
                  <a:lnTo>
                    <a:pt x="0" y="38573"/>
                  </a:lnTo>
                  <a:cubicBezTo>
                    <a:pt x="0" y="17270"/>
                    <a:pt x="17270" y="0"/>
                    <a:pt x="38573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1057222" cy="554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283039" y="2160576"/>
            <a:ext cx="3830988" cy="1981989"/>
            <a:chOff x="0" y="0"/>
            <a:chExt cx="1008984" cy="52200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08984" cy="522005"/>
            </a:xfrm>
            <a:custGeom>
              <a:avLst/>
              <a:gdLst/>
              <a:ahLst/>
              <a:cxnLst/>
              <a:rect l="l" t="t" r="r" b="b"/>
              <a:pathLst>
                <a:path w="1008984" h="522005">
                  <a:moveTo>
                    <a:pt x="40417" y="0"/>
                  </a:moveTo>
                  <a:lnTo>
                    <a:pt x="968567" y="0"/>
                  </a:lnTo>
                  <a:cubicBezTo>
                    <a:pt x="990889" y="0"/>
                    <a:pt x="1008984" y="18095"/>
                    <a:pt x="1008984" y="40417"/>
                  </a:cubicBezTo>
                  <a:lnTo>
                    <a:pt x="1008984" y="481588"/>
                  </a:lnTo>
                  <a:cubicBezTo>
                    <a:pt x="1008984" y="503910"/>
                    <a:pt x="990889" y="522005"/>
                    <a:pt x="968567" y="522005"/>
                  </a:cubicBezTo>
                  <a:lnTo>
                    <a:pt x="40417" y="522005"/>
                  </a:lnTo>
                  <a:cubicBezTo>
                    <a:pt x="18095" y="522005"/>
                    <a:pt x="0" y="503910"/>
                    <a:pt x="0" y="481588"/>
                  </a:cubicBezTo>
                  <a:lnTo>
                    <a:pt x="0" y="40417"/>
                  </a:lnTo>
                  <a:cubicBezTo>
                    <a:pt x="0" y="18095"/>
                    <a:pt x="18095" y="0"/>
                    <a:pt x="40417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1008984" cy="560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530035" y="3728621"/>
            <a:ext cx="4188409" cy="2104797"/>
            <a:chOff x="0" y="0"/>
            <a:chExt cx="1103120" cy="55435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103120" cy="554350"/>
            </a:xfrm>
            <a:custGeom>
              <a:avLst/>
              <a:gdLst/>
              <a:ahLst/>
              <a:cxnLst/>
              <a:rect l="l" t="t" r="r" b="b"/>
              <a:pathLst>
                <a:path w="1103120" h="554350">
                  <a:moveTo>
                    <a:pt x="36968" y="0"/>
                  </a:moveTo>
                  <a:lnTo>
                    <a:pt x="1066152" y="0"/>
                  </a:lnTo>
                  <a:cubicBezTo>
                    <a:pt x="1086569" y="0"/>
                    <a:pt x="1103120" y="16551"/>
                    <a:pt x="1103120" y="36968"/>
                  </a:cubicBezTo>
                  <a:lnTo>
                    <a:pt x="1103120" y="517382"/>
                  </a:lnTo>
                  <a:cubicBezTo>
                    <a:pt x="1103120" y="527186"/>
                    <a:pt x="1099225" y="536589"/>
                    <a:pt x="1092292" y="543522"/>
                  </a:cubicBezTo>
                  <a:cubicBezTo>
                    <a:pt x="1085359" y="550455"/>
                    <a:pt x="1075956" y="554350"/>
                    <a:pt x="1066152" y="554350"/>
                  </a:cubicBezTo>
                  <a:lnTo>
                    <a:pt x="36968" y="554350"/>
                  </a:lnTo>
                  <a:cubicBezTo>
                    <a:pt x="16551" y="554350"/>
                    <a:pt x="0" y="537799"/>
                    <a:pt x="0" y="517382"/>
                  </a:cubicBezTo>
                  <a:lnTo>
                    <a:pt x="0" y="36968"/>
                  </a:lnTo>
                  <a:cubicBezTo>
                    <a:pt x="0" y="27164"/>
                    <a:pt x="3895" y="17761"/>
                    <a:pt x="10828" y="10828"/>
                  </a:cubicBezTo>
                  <a:cubicBezTo>
                    <a:pt x="17761" y="3895"/>
                    <a:pt x="27164" y="0"/>
                    <a:pt x="36968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1103120" cy="59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1573184" y="6470979"/>
            <a:ext cx="4145260" cy="1962536"/>
            <a:chOff x="0" y="0"/>
            <a:chExt cx="1091756" cy="51688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091756" cy="516882"/>
            </a:xfrm>
            <a:custGeom>
              <a:avLst/>
              <a:gdLst/>
              <a:ahLst/>
              <a:cxnLst/>
              <a:rect l="l" t="t" r="r" b="b"/>
              <a:pathLst>
                <a:path w="1091756" h="516882">
                  <a:moveTo>
                    <a:pt x="37353" y="0"/>
                  </a:moveTo>
                  <a:lnTo>
                    <a:pt x="1054403" y="0"/>
                  </a:lnTo>
                  <a:cubicBezTo>
                    <a:pt x="1064309" y="0"/>
                    <a:pt x="1073810" y="3935"/>
                    <a:pt x="1080815" y="10940"/>
                  </a:cubicBezTo>
                  <a:cubicBezTo>
                    <a:pt x="1087820" y="17946"/>
                    <a:pt x="1091756" y="27446"/>
                    <a:pt x="1091756" y="37353"/>
                  </a:cubicBezTo>
                  <a:lnTo>
                    <a:pt x="1091756" y="479529"/>
                  </a:lnTo>
                  <a:cubicBezTo>
                    <a:pt x="1091756" y="489436"/>
                    <a:pt x="1087820" y="498936"/>
                    <a:pt x="1080815" y="505942"/>
                  </a:cubicBezTo>
                  <a:cubicBezTo>
                    <a:pt x="1073810" y="512947"/>
                    <a:pt x="1064309" y="516882"/>
                    <a:pt x="1054403" y="516882"/>
                  </a:cubicBezTo>
                  <a:lnTo>
                    <a:pt x="37353" y="516882"/>
                  </a:lnTo>
                  <a:cubicBezTo>
                    <a:pt x="27446" y="516882"/>
                    <a:pt x="17946" y="512947"/>
                    <a:pt x="10940" y="505942"/>
                  </a:cubicBezTo>
                  <a:cubicBezTo>
                    <a:pt x="3935" y="498936"/>
                    <a:pt x="0" y="489436"/>
                    <a:pt x="0" y="479529"/>
                  </a:cubicBezTo>
                  <a:lnTo>
                    <a:pt x="0" y="37353"/>
                  </a:lnTo>
                  <a:cubicBezTo>
                    <a:pt x="0" y="27446"/>
                    <a:pt x="3935" y="17946"/>
                    <a:pt x="10940" y="10940"/>
                  </a:cubicBezTo>
                  <a:cubicBezTo>
                    <a:pt x="17946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1091756" cy="554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8215538" y="5692983"/>
            <a:ext cx="2070973" cy="7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5"/>
              </a:lnSpc>
            </a:pPr>
            <a:r>
              <a:rPr lang="en-US" sz="4118" b="1">
                <a:solidFill>
                  <a:srgbClr val="3D4569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주요 기능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590800" y="4066644"/>
            <a:ext cx="4329533" cy="3910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120"/>
              </a:lnSpc>
              <a:spcBef>
                <a:spcPct val="0"/>
              </a:spcBef>
              <a:defRPr/>
            </a:pPr>
            <a:r>
              <a:rPr lang="en-US" sz="2229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 맞춤형 프로필 기반 추천 시스템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006914" y="4284265"/>
            <a:ext cx="1488886" cy="15957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819"/>
              </a:lnSpc>
              <a:spcBef>
                <a:spcPct val="0"/>
              </a:spcBef>
              <a:defRPr/>
            </a:pPr>
            <a:endParaRPr lang="ko-KR" altLang="en-US" dirty="0"/>
          </a:p>
          <a:p>
            <a:pPr lvl="0" algn="l">
              <a:lnSpc>
                <a:spcPts val="1819"/>
              </a:lnSpc>
              <a:spcBef>
                <a:spcPct val="0"/>
              </a:spcBef>
              <a:defRPr/>
            </a:pP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건강</a:t>
            </a:r>
            <a:r>
              <a:rPr lang="en-US" sz="1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조건</a:t>
            </a:r>
            <a:endParaRPr lang="en-US" sz="1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lvl="0" algn="l">
              <a:lnSpc>
                <a:spcPts val="1819"/>
              </a:lnSpc>
              <a:spcBef>
                <a:spcPct val="0"/>
              </a:spcBef>
              <a:defRPr/>
            </a:pP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이동</a:t>
            </a:r>
            <a:r>
              <a:rPr lang="en-US" sz="1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가능</a:t>
            </a:r>
            <a:r>
              <a:rPr lang="en-US" sz="1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거리</a:t>
            </a:r>
            <a:endParaRPr lang="en-US" sz="1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lvl="0" algn="l">
              <a:lnSpc>
                <a:spcPts val="1819"/>
              </a:lnSpc>
              <a:spcBef>
                <a:spcPct val="0"/>
              </a:spcBef>
              <a:defRPr/>
            </a:pP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시간대</a:t>
            </a:r>
            <a:r>
              <a:rPr lang="en-US" sz="1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호환</a:t>
            </a:r>
            <a:endParaRPr lang="en-US" sz="1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lvl="0" algn="l">
              <a:lnSpc>
                <a:spcPts val="1819"/>
              </a:lnSpc>
              <a:spcBef>
                <a:spcPct val="0"/>
              </a:spcBef>
              <a:defRPr/>
            </a:pP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성향</a:t>
            </a:r>
            <a:endParaRPr lang="en-US" sz="1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lvl="0" algn="l">
              <a:lnSpc>
                <a:spcPts val="1819"/>
              </a:lnSpc>
              <a:spcBef>
                <a:spcPct val="0"/>
              </a:spcBef>
              <a:defRPr/>
            </a:pP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스마트폰</a:t>
            </a:r>
            <a:r>
              <a:rPr lang="en-US" sz="1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활용</a:t>
            </a:r>
            <a:r>
              <a:rPr lang="en-US" sz="1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능력</a:t>
            </a:r>
            <a:endParaRPr lang="en-US" sz="1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lvl="0" algn="l">
              <a:lnSpc>
                <a:spcPts val="1819"/>
              </a:lnSpc>
              <a:spcBef>
                <a:spcPct val="0"/>
              </a:spcBef>
              <a:defRPr/>
            </a:pPr>
            <a:endParaRPr lang="en-US" sz="1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4333628" y="4854833"/>
            <a:ext cx="2676772" cy="36486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859"/>
              </a:lnSpc>
              <a:spcBef>
                <a:spcPct val="0"/>
              </a:spcBef>
              <a:defRPr/>
            </a:pPr>
            <a:r>
              <a:rPr lang="en-US" sz="2042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</a:t>
            </a:r>
            <a:r>
              <a:rPr lang="en-US" sz="2042" b="1" dirty="0" err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프로필</a:t>
            </a:r>
            <a:r>
              <a:rPr lang="en-US" sz="2042" b="1" dirty="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2042" b="1" dirty="0" err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정보</a:t>
            </a:r>
            <a:r>
              <a:rPr lang="en-US" sz="2042" b="1" dirty="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2042" b="1" dirty="0" err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기반</a:t>
            </a:r>
            <a:endParaRPr lang="en-US" sz="2042" b="1" dirty="0">
              <a:solidFill>
                <a:srgbClr val="000000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3006914" y="6618724"/>
            <a:ext cx="3774886" cy="40120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218"/>
              </a:lnSpc>
              <a:spcBef>
                <a:spcPct val="0"/>
              </a:spcBef>
              <a:defRPr/>
            </a:pPr>
            <a:r>
              <a:rPr lang="en-US" sz="2299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지역 기반 취미 데이터 제공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830312" y="7201530"/>
            <a:ext cx="3763804" cy="10280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411077" lvl="1" indent="-205539" algn="l">
              <a:lnSpc>
                <a:spcPts val="2665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서울시 25개 구 데이터 직접 구축</a:t>
            </a:r>
          </a:p>
          <a:p>
            <a:pPr marL="411077" lvl="1" indent="-205539" algn="l">
              <a:lnSpc>
                <a:spcPts val="2665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사용자가 선택한 구에 따라 </a:t>
            </a:r>
          </a:p>
          <a:p>
            <a:pPr lvl="0" algn="l">
              <a:lnSpc>
                <a:spcPts val="2665"/>
              </a:lnSpc>
              <a:spcBef>
                <a:spcPct val="0"/>
              </a:spcBef>
              <a:defRPr/>
            </a:pPr>
            <a:r>
              <a:rPr lang="en-US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문화센터 프로그램 자동 제공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789130" y="6618724"/>
            <a:ext cx="3222270" cy="40120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220"/>
              </a:lnSpc>
              <a:spcBef>
                <a:spcPct val="0"/>
              </a:spcBef>
              <a:defRPr/>
            </a:pPr>
            <a:r>
              <a:rPr lang="en-US" sz="2300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일자리 추천 시스템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789130" y="7073763"/>
            <a:ext cx="1317271" cy="12891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678"/>
              </a:lnSpc>
              <a:spcBef>
                <a:spcPct val="0"/>
              </a:spcBef>
              <a:defRPr/>
            </a:pPr>
            <a:r>
              <a:rPr lang="en-US" sz="1198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속성 기반 필터링</a:t>
            </a:r>
          </a:p>
          <a:p>
            <a:pPr lvl="0" algn="l">
              <a:lnSpc>
                <a:spcPts val="1678"/>
              </a:lnSpc>
              <a:spcBef>
                <a:spcPct val="0"/>
              </a:spcBef>
              <a:defRPr/>
            </a:pPr>
            <a:r>
              <a:rPr lang="en-US" sz="1198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건강 요구 수준</a:t>
            </a:r>
          </a:p>
          <a:p>
            <a:pPr lvl="0" algn="l">
              <a:lnSpc>
                <a:spcPts val="1678"/>
              </a:lnSpc>
              <a:spcBef>
                <a:spcPct val="0"/>
              </a:spcBef>
              <a:defRPr/>
            </a:pPr>
            <a:r>
              <a:rPr lang="en-US" sz="1198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이동 거리</a:t>
            </a:r>
          </a:p>
          <a:p>
            <a:pPr lvl="0" algn="l">
              <a:lnSpc>
                <a:spcPts val="1678"/>
              </a:lnSpc>
              <a:spcBef>
                <a:spcPct val="0"/>
              </a:spcBef>
              <a:defRPr/>
            </a:pPr>
            <a:r>
              <a:rPr lang="en-US" sz="1198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시간대</a:t>
            </a:r>
          </a:p>
          <a:p>
            <a:pPr lvl="0" algn="l">
              <a:lnSpc>
                <a:spcPts val="1678"/>
              </a:lnSpc>
              <a:spcBef>
                <a:spcPct val="0"/>
              </a:spcBef>
              <a:defRPr/>
            </a:pPr>
            <a:r>
              <a:rPr lang="en-US" sz="1198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임금</a:t>
            </a:r>
          </a:p>
          <a:p>
            <a:pPr lvl="0" algn="l">
              <a:lnSpc>
                <a:spcPts val="1678"/>
              </a:lnSpc>
              <a:spcBef>
                <a:spcPct val="0"/>
              </a:spcBef>
              <a:defRPr/>
            </a:pPr>
            <a:r>
              <a:rPr lang="en-US" sz="1198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활동 설명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3145691" y="7429500"/>
            <a:ext cx="2399109" cy="34816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859"/>
              </a:lnSpc>
              <a:spcBef>
                <a:spcPct val="0"/>
              </a:spcBef>
              <a:defRPr/>
            </a:pPr>
            <a:r>
              <a:rPr lang="en-US" sz="2042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→ 적합한 일자리 추천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823180" y="3926408"/>
            <a:ext cx="2273819" cy="40746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220"/>
              </a:lnSpc>
              <a:spcBef>
                <a:spcPct val="0"/>
              </a:spcBef>
              <a:defRPr/>
            </a:pPr>
            <a:r>
              <a:rPr lang="en-US" sz="2300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즐겨찾기 기능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1734266" y="4503525"/>
            <a:ext cx="3810534" cy="10209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410208" lvl="1" indent="-205104" algn="l">
              <a:lnSpc>
                <a:spcPts val="2659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취미/일자리 항목을 저장</a:t>
            </a:r>
          </a:p>
          <a:p>
            <a:pPr marL="410208" lvl="1" indent="-205104" algn="l">
              <a:lnSpc>
                <a:spcPts val="2659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 화면, 결과 화면에서 </a:t>
            </a:r>
          </a:p>
          <a:p>
            <a:pPr lvl="0" algn="l">
              <a:lnSpc>
                <a:spcPts val="2659"/>
              </a:lnSpc>
              <a:spcBef>
                <a:spcPct val="0"/>
              </a:spcBef>
              <a:defRPr/>
            </a:pPr>
            <a:r>
              <a:rPr lang="en-US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즐겨찾기 상태 표시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489732" y="2336117"/>
            <a:ext cx="3254468" cy="40708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220"/>
              </a:lnSpc>
              <a:spcBef>
                <a:spcPct val="0"/>
              </a:spcBef>
              <a:defRPr/>
            </a:pPr>
            <a:r>
              <a:rPr lang="en-US" sz="2300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예약·담당자 문의 기능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282518" y="3162300"/>
            <a:ext cx="3722965" cy="5594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345438" lvl="1" indent="-172719" algn="l">
              <a:lnSpc>
                <a:spcPts val="2239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sz="15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예약</a:t>
            </a:r>
            <a:r>
              <a:rPr lang="en-US" sz="15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5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버튼</a:t>
            </a:r>
            <a:r>
              <a:rPr lang="en-US" sz="15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5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기반</a:t>
            </a:r>
            <a:r>
              <a:rPr lang="en-US" sz="15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5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간단</a:t>
            </a:r>
            <a:r>
              <a:rPr lang="en-US" sz="15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5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예약</a:t>
            </a:r>
            <a:r>
              <a:rPr lang="en-US" sz="15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UX </a:t>
            </a:r>
            <a:r>
              <a:rPr lang="en-US" sz="15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제공</a:t>
            </a:r>
            <a:endParaRPr lang="en-US" sz="15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345438" lvl="1" indent="-172719" algn="l">
              <a:lnSpc>
                <a:spcPts val="2239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sz="14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담당자</a:t>
            </a:r>
            <a:r>
              <a:rPr lang="en-US" sz="14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연결</a:t>
            </a:r>
            <a:r>
              <a:rPr lang="en-US" sz="14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→ </a:t>
            </a:r>
            <a:r>
              <a:rPr lang="en-US" sz="14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센터</a:t>
            </a:r>
            <a:r>
              <a:rPr lang="en-US" sz="14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대표</a:t>
            </a:r>
            <a:r>
              <a:rPr lang="en-US" sz="14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전화번호</a:t>
            </a:r>
            <a:r>
              <a:rPr lang="en-US" sz="14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제공</a:t>
            </a:r>
            <a:endParaRPr lang="en-US" sz="1400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1419733" y="2457635"/>
            <a:ext cx="3467102" cy="49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70" lvl="1" indent="-315035" algn="l">
              <a:lnSpc>
                <a:spcPts val="4085"/>
              </a:lnSpc>
              <a:buFont typeface="Arial"/>
              <a:buChar char="•"/>
            </a:pPr>
            <a:r>
              <a:rPr lang="en-US" sz="2918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주요 기능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D0E3-B8C5-CB43-732C-B84273C1C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5C49DF2-5B79-055B-D62A-6B1FB3DD92EC}"/>
              </a:ext>
            </a:extLst>
          </p:cNvPr>
          <p:cNvSpPr txBox="1"/>
          <p:nvPr/>
        </p:nvSpPr>
        <p:spPr>
          <a:xfrm>
            <a:off x="5410200" y="4000500"/>
            <a:ext cx="6869633" cy="19236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492"/>
              </a:lnSpc>
              <a:defRPr/>
            </a:pPr>
            <a:r>
              <a:rPr lang="ko-KR" altLang="en-US" sz="6514" b="1" spc="-214" dirty="0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구현 시 발생했던 문제들과 해결과정</a:t>
            </a:r>
            <a:endParaRPr lang="en-US" sz="6514" b="1" spc="-214" dirty="0">
              <a:solidFill>
                <a:srgbClr val="191919"/>
              </a:solidFill>
              <a:latin typeface="윤고딕 Bold"/>
              <a:ea typeface="윤고딕 Bold"/>
              <a:cs typeface="윤고딕 Bold"/>
              <a:sym typeface="윤고딕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553C3B0-C42D-2585-5BDC-31E24BE55B26}"/>
              </a:ext>
            </a:extLst>
          </p:cNvPr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36EA92B-DD76-1238-3DC8-4269223B14C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343D63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EFAF37A-B331-3220-0E78-EFEAC576E60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75878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 dirty="0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05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62429" y="1491976"/>
            <a:ext cx="8087584" cy="66851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5577"/>
              </a:lnSpc>
              <a:defRPr/>
            </a:pPr>
            <a:r>
              <a:rPr lang="ko-KR" altLang="en-US" sz="3984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구현 시 발생한 문제점과 해결과정</a:t>
            </a:r>
            <a:endParaRPr lang="en-US" sz="3984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419733" y="2460823"/>
            <a:ext cx="3192412" cy="49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70" lvl="1" indent="-315035" algn="l">
              <a:lnSpc>
                <a:spcPts val="4085"/>
              </a:lnSpc>
              <a:buFont typeface="Arial"/>
              <a:buChar char="•"/>
            </a:pPr>
            <a:r>
              <a:rPr lang="en-US" sz="2918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문제 해결 과정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759226" y="3279113"/>
            <a:ext cx="15130224" cy="5662074"/>
            <a:chOff x="0" y="0"/>
            <a:chExt cx="3847384" cy="143977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847384" cy="1439779"/>
            </a:xfrm>
            <a:custGeom>
              <a:avLst/>
              <a:gdLst/>
              <a:ahLst/>
              <a:cxnLst/>
              <a:rect l="l" t="t" r="r" b="b"/>
              <a:pathLst>
                <a:path w="3847384" h="1439779">
                  <a:moveTo>
                    <a:pt x="10234" y="0"/>
                  </a:moveTo>
                  <a:lnTo>
                    <a:pt x="3837150" y="0"/>
                  </a:lnTo>
                  <a:cubicBezTo>
                    <a:pt x="3842802" y="0"/>
                    <a:pt x="3847384" y="4582"/>
                    <a:pt x="3847384" y="10234"/>
                  </a:cubicBezTo>
                  <a:lnTo>
                    <a:pt x="3847384" y="1429545"/>
                  </a:lnTo>
                  <a:cubicBezTo>
                    <a:pt x="3847384" y="1432259"/>
                    <a:pt x="3846306" y="1434862"/>
                    <a:pt x="3844387" y="1436781"/>
                  </a:cubicBezTo>
                  <a:cubicBezTo>
                    <a:pt x="3842467" y="1438700"/>
                    <a:pt x="3839864" y="1439779"/>
                    <a:pt x="3837150" y="1439779"/>
                  </a:cubicBezTo>
                  <a:lnTo>
                    <a:pt x="10234" y="1439779"/>
                  </a:lnTo>
                  <a:cubicBezTo>
                    <a:pt x="7520" y="1439779"/>
                    <a:pt x="4917" y="1438700"/>
                    <a:pt x="2997" y="1436781"/>
                  </a:cubicBezTo>
                  <a:cubicBezTo>
                    <a:pt x="1078" y="1434862"/>
                    <a:pt x="0" y="1432259"/>
                    <a:pt x="0" y="1429545"/>
                  </a:cubicBezTo>
                  <a:lnTo>
                    <a:pt x="0" y="10234"/>
                  </a:lnTo>
                  <a:cubicBezTo>
                    <a:pt x="0" y="7520"/>
                    <a:pt x="1078" y="4917"/>
                    <a:pt x="2997" y="2997"/>
                  </a:cubicBezTo>
                  <a:cubicBezTo>
                    <a:pt x="4917" y="1078"/>
                    <a:pt x="7520" y="0"/>
                    <a:pt x="10234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3847384" cy="1477879"/>
            </a:xfrm>
            <a:prstGeom prst="rect">
              <a:avLst/>
            </a:prstGeom>
          </p:spPr>
          <p:txBody>
            <a:bodyPr lIns="52616" tIns="52616" rIns="52616" bIns="5261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980630" y="3523439"/>
            <a:ext cx="4760061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화면 전환 구조 문제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2064001" y="4269564"/>
            <a:ext cx="12367617" cy="377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화면 전환 구조 복잡 → MVC 패턴 도입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99" b="1">
              <a:solidFill>
                <a:srgbClr val="FF3131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해결 과정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Tkinter의 다중 화면 구조 관련 설계 패턴을 학습.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구글링과, StackOverflow 사례를 참고하여 Controller가 여러 Frame을 관리하는 구조 공부.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이후 AI를 활용하여 Tkinter에서 다중 Frame 아키텍처 설계 방법을 질문하며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 AppFrame 추상 클래스 + controller.show_frame() 구조로 정리.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b="1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결과적으로 MVC 구조를 실제 앱에 적용해 유지보수성을 높임.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 dirty="0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05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80416" y="1461674"/>
            <a:ext cx="9687784" cy="66851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5577"/>
              </a:lnSpc>
              <a:defRPr/>
            </a:pPr>
            <a:r>
              <a:rPr lang="ko-KR" altLang="en-US" sz="3984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구현 시 발생한 문제점과 해결과정</a:t>
            </a:r>
            <a:endParaRPr lang="en-US" altLang="ko-KR" sz="3984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419733" y="2460823"/>
            <a:ext cx="3192412" cy="49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70" lvl="1" indent="-315035" algn="l">
              <a:lnSpc>
                <a:spcPts val="4085"/>
              </a:lnSpc>
              <a:buFont typeface="Arial"/>
              <a:buChar char="•"/>
            </a:pPr>
            <a:r>
              <a:rPr lang="en-US" sz="2918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문제 해결 과정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759226" y="3279113"/>
            <a:ext cx="15130224" cy="5662074"/>
            <a:chOff x="0" y="0"/>
            <a:chExt cx="3847384" cy="143977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847384" cy="1439779"/>
            </a:xfrm>
            <a:custGeom>
              <a:avLst/>
              <a:gdLst/>
              <a:ahLst/>
              <a:cxnLst/>
              <a:rect l="l" t="t" r="r" b="b"/>
              <a:pathLst>
                <a:path w="3847384" h="1439779">
                  <a:moveTo>
                    <a:pt x="10234" y="0"/>
                  </a:moveTo>
                  <a:lnTo>
                    <a:pt x="3837150" y="0"/>
                  </a:lnTo>
                  <a:cubicBezTo>
                    <a:pt x="3842802" y="0"/>
                    <a:pt x="3847384" y="4582"/>
                    <a:pt x="3847384" y="10234"/>
                  </a:cubicBezTo>
                  <a:lnTo>
                    <a:pt x="3847384" y="1429545"/>
                  </a:lnTo>
                  <a:cubicBezTo>
                    <a:pt x="3847384" y="1432259"/>
                    <a:pt x="3846306" y="1434862"/>
                    <a:pt x="3844387" y="1436781"/>
                  </a:cubicBezTo>
                  <a:cubicBezTo>
                    <a:pt x="3842467" y="1438700"/>
                    <a:pt x="3839864" y="1439779"/>
                    <a:pt x="3837150" y="1439779"/>
                  </a:cubicBezTo>
                  <a:lnTo>
                    <a:pt x="10234" y="1439779"/>
                  </a:lnTo>
                  <a:cubicBezTo>
                    <a:pt x="7520" y="1439779"/>
                    <a:pt x="4917" y="1438700"/>
                    <a:pt x="2997" y="1436781"/>
                  </a:cubicBezTo>
                  <a:cubicBezTo>
                    <a:pt x="1078" y="1434862"/>
                    <a:pt x="0" y="1432259"/>
                    <a:pt x="0" y="1429545"/>
                  </a:cubicBezTo>
                  <a:lnTo>
                    <a:pt x="0" y="10234"/>
                  </a:lnTo>
                  <a:cubicBezTo>
                    <a:pt x="0" y="7520"/>
                    <a:pt x="1078" y="4917"/>
                    <a:pt x="2997" y="2997"/>
                  </a:cubicBezTo>
                  <a:cubicBezTo>
                    <a:pt x="4917" y="1078"/>
                    <a:pt x="7520" y="0"/>
                    <a:pt x="10234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3847384" cy="1477879"/>
            </a:xfrm>
            <a:prstGeom prst="rect">
              <a:avLst/>
            </a:prstGeom>
          </p:spPr>
          <p:txBody>
            <a:bodyPr lIns="52616" tIns="52616" rIns="52616" bIns="5261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2064001" y="4269564"/>
            <a:ext cx="12769215" cy="458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 err="1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</a:t>
            </a:r>
            <a:r>
              <a:rPr lang="en-US" sz="2499" b="1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알고리즘</a:t>
            </a:r>
            <a:r>
              <a:rPr lang="en-US" sz="2499" b="1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설계</a:t>
            </a:r>
            <a:r>
              <a:rPr lang="en-US" sz="2499" b="1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난이도</a:t>
            </a:r>
            <a:r>
              <a:rPr lang="en-US" sz="2499" b="1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→ AI </a:t>
            </a:r>
            <a:r>
              <a:rPr lang="en-US" sz="2499" b="1" dirty="0" err="1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기반</a:t>
            </a:r>
            <a:r>
              <a:rPr lang="en-US" sz="2499" b="1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가중치</a:t>
            </a:r>
            <a:r>
              <a:rPr lang="en-US" sz="2499" b="1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모델</a:t>
            </a:r>
            <a:r>
              <a:rPr lang="en-US" sz="2499" b="1" dirty="0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완</a:t>
            </a:r>
            <a:r>
              <a:rPr lang="en-US" sz="2499" dirty="0" err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성</a:t>
            </a:r>
            <a:endParaRPr lang="en-US" sz="2499" dirty="0">
              <a:solidFill>
                <a:srgbClr val="FF3131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499"/>
              </a:lnSpc>
            </a:pPr>
            <a:endParaRPr lang="en-US" sz="2499" dirty="0">
              <a:solidFill>
                <a:srgbClr val="FF3131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해결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과정</a:t>
            </a:r>
            <a:endParaRPr lang="en-US" sz="2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496566" lvl="1" indent="-248283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처음에는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건강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/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거리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/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시간대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/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성향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/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스마트폰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능력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등을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어떻게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수치화해야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할지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기준이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없었음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</a:p>
          <a:p>
            <a:pPr marL="496566" lvl="1" indent="-248283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Kaggle·Google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Scholar에서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“senior recommendation model”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개념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검색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실제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시스템에서</a:t>
            </a:r>
            <a:endParaRPr lang="en-US" sz="2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사용하는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가중치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기반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모델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자료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참고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</a:p>
          <a:p>
            <a:pPr marL="496566" lvl="1" indent="-248283" algn="l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이후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AI를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활용하여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여러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사용자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조건을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단일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점수로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통합하는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모델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구조를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질문하고</a:t>
            </a:r>
            <a:endParaRPr lang="en-US" sz="2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요소별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점수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설계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가중치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설정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아이디어를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보조받아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구조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2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확정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.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endParaRPr lang="en-US" sz="2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이를</a:t>
            </a:r>
            <a:r>
              <a:rPr lang="en-US" sz="22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바탕으로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calculate_score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()를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설계하고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실제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앱에서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정상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작동하는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프로토타입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엔진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개발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2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2064001" y="3591611"/>
            <a:ext cx="3803399" cy="44698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추천 알고리즘 설계 문제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 dirty="0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05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80416" y="1461674"/>
            <a:ext cx="8468584" cy="66851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5577"/>
              </a:lnSpc>
              <a:defRPr/>
            </a:pPr>
            <a:r>
              <a:rPr lang="ko-KR" altLang="en-US" sz="3984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구현 시 발생한 문제점과 해결과정</a:t>
            </a:r>
            <a:endParaRPr lang="en-US" altLang="ko-KR" sz="3984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419733" y="2460823"/>
            <a:ext cx="3192412" cy="49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70" lvl="1" indent="-315035" algn="l">
              <a:lnSpc>
                <a:spcPts val="4085"/>
              </a:lnSpc>
              <a:buFont typeface="Arial"/>
              <a:buChar char="•"/>
            </a:pPr>
            <a:r>
              <a:rPr lang="en-US" sz="2918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문제 해결 과정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759226" y="3279113"/>
            <a:ext cx="15130224" cy="5662074"/>
            <a:chOff x="0" y="0"/>
            <a:chExt cx="3847384" cy="143977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847384" cy="1439779"/>
            </a:xfrm>
            <a:custGeom>
              <a:avLst/>
              <a:gdLst/>
              <a:ahLst/>
              <a:cxnLst/>
              <a:rect l="l" t="t" r="r" b="b"/>
              <a:pathLst>
                <a:path w="3847384" h="1439779">
                  <a:moveTo>
                    <a:pt x="10234" y="0"/>
                  </a:moveTo>
                  <a:lnTo>
                    <a:pt x="3837150" y="0"/>
                  </a:lnTo>
                  <a:cubicBezTo>
                    <a:pt x="3842802" y="0"/>
                    <a:pt x="3847384" y="4582"/>
                    <a:pt x="3847384" y="10234"/>
                  </a:cubicBezTo>
                  <a:lnTo>
                    <a:pt x="3847384" y="1429545"/>
                  </a:lnTo>
                  <a:cubicBezTo>
                    <a:pt x="3847384" y="1432259"/>
                    <a:pt x="3846306" y="1434862"/>
                    <a:pt x="3844387" y="1436781"/>
                  </a:cubicBezTo>
                  <a:cubicBezTo>
                    <a:pt x="3842467" y="1438700"/>
                    <a:pt x="3839864" y="1439779"/>
                    <a:pt x="3837150" y="1439779"/>
                  </a:cubicBezTo>
                  <a:lnTo>
                    <a:pt x="10234" y="1439779"/>
                  </a:lnTo>
                  <a:cubicBezTo>
                    <a:pt x="7520" y="1439779"/>
                    <a:pt x="4917" y="1438700"/>
                    <a:pt x="2997" y="1436781"/>
                  </a:cubicBezTo>
                  <a:cubicBezTo>
                    <a:pt x="1078" y="1434862"/>
                    <a:pt x="0" y="1432259"/>
                    <a:pt x="0" y="1429545"/>
                  </a:cubicBezTo>
                  <a:lnTo>
                    <a:pt x="0" y="10234"/>
                  </a:lnTo>
                  <a:cubicBezTo>
                    <a:pt x="0" y="7520"/>
                    <a:pt x="1078" y="4917"/>
                    <a:pt x="2997" y="2997"/>
                  </a:cubicBezTo>
                  <a:cubicBezTo>
                    <a:pt x="4917" y="1078"/>
                    <a:pt x="7520" y="0"/>
                    <a:pt x="10234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3847384" cy="1477879"/>
            </a:xfrm>
            <a:prstGeom prst="rect">
              <a:avLst/>
            </a:prstGeom>
          </p:spPr>
          <p:txBody>
            <a:bodyPr lIns="52616" tIns="52616" rIns="52616" bIns="5261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906866" y="4284060"/>
            <a:ext cx="14857134" cy="39220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 dirty="0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Listbox</a:t>
            </a:r>
            <a:r>
              <a:rPr lang="en-US" sz="2499" b="1" dirty="0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선택</a:t>
            </a:r>
            <a:r>
              <a:rPr lang="en-US" sz="2499" b="1" dirty="0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오류</a:t>
            </a:r>
            <a:r>
              <a:rPr lang="en-US" sz="2499" b="1" dirty="0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 → </a:t>
            </a:r>
            <a:r>
              <a:rPr lang="en-US" sz="2499" b="1" dirty="0" err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데이터</a:t>
            </a:r>
            <a:r>
              <a:rPr lang="en-US" sz="2499" b="1" dirty="0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매핑</a:t>
            </a:r>
            <a:r>
              <a:rPr lang="en-US" sz="2499" b="1" dirty="0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구조</a:t>
            </a:r>
            <a:r>
              <a:rPr lang="en-US" sz="2499" b="1" dirty="0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499" b="1" dirty="0" err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개선</a:t>
            </a:r>
            <a:endParaRPr lang="en-US" sz="2499" b="1" dirty="0">
              <a:solidFill>
                <a:srgbClr val="FF3131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endParaRPr lang="en-US" sz="2499" b="1" dirty="0">
              <a:solidFill>
                <a:srgbClr val="FF3131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lvl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해결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과정</a:t>
            </a:r>
            <a:endParaRPr lang="en-US" sz="23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문제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원인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분석을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위해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Tkinter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Listbox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동작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방식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공식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문서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(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TkDocs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)를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참고하여</a:t>
            </a:r>
            <a:endParaRPr lang="en-US" sz="23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lvl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“</a:t>
            </a:r>
            <a:r>
              <a:rPr lang="en-US" sz="2399" b="1" dirty="0" err="1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Listbox는</a:t>
            </a:r>
            <a:r>
              <a:rPr lang="en-US" sz="2399" b="1" dirty="0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2399" b="1" dirty="0" err="1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문자열만</a:t>
            </a:r>
            <a:r>
              <a:rPr lang="en-US" sz="2399" b="1" dirty="0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2399" b="1" dirty="0" err="1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저장하며</a:t>
            </a:r>
            <a:r>
              <a:rPr lang="en-US" sz="2399" b="1" dirty="0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‘</a:t>
            </a:r>
            <a:r>
              <a:rPr lang="en-US" sz="2399" b="1" dirty="0" err="1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실제</a:t>
            </a:r>
            <a:r>
              <a:rPr lang="en-US" sz="2399" b="1" dirty="0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2399" b="1" dirty="0" err="1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객체와</a:t>
            </a:r>
            <a:r>
              <a:rPr lang="en-US" sz="2399" b="1" dirty="0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2399" b="1" dirty="0" err="1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분리되어</a:t>
            </a:r>
            <a:r>
              <a:rPr lang="en-US" sz="2399" b="1" dirty="0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</a:t>
            </a:r>
            <a:r>
              <a:rPr lang="en-US" sz="2399" b="1" dirty="0" err="1">
                <a:solidFill>
                  <a:srgbClr val="3D4569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있다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”는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점을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학습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  <a:defRPr/>
            </a:pP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이후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AI를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활용하여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Listbox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인덱스와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별도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리스트를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매핑하는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방식을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399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추천받음</a:t>
            </a: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.</a:t>
            </a:r>
          </a:p>
          <a:p>
            <a:pPr lvl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</a:t>
            </a:r>
          </a:p>
          <a:p>
            <a:pPr lvl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399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학습한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내용을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바탕으로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인덱스를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key로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사용하고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선택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시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해당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리스트를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참조하는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구조로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수정해</a:t>
            </a:r>
            <a:r>
              <a:rPr lang="ko-KR" alt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흐름</a:t>
            </a:r>
            <a:r>
              <a:rPr lang="en-US" sz="2000" b="1" dirty="0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안정화</a:t>
            </a:r>
            <a:endParaRPr lang="en-US" sz="2000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lvl="0" algn="l">
              <a:lnSpc>
                <a:spcPts val="3359"/>
              </a:lnSpc>
              <a:spcBef>
                <a:spcPct val="0"/>
              </a:spcBef>
              <a:defRPr/>
            </a:pPr>
            <a:endParaRPr lang="en-US" sz="2399" b="1" dirty="0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2064001" y="3547460"/>
            <a:ext cx="3650999" cy="4435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 Listbox 선택 오류 문제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3" name="Group 1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7" name="AutoShape 3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61" name="TextBox 61"/>
          <p:cNvSpPr txBox="1"/>
          <p:nvPr/>
        </p:nvSpPr>
        <p:spPr>
          <a:xfrm>
            <a:off x="1419733" y="1495922"/>
            <a:ext cx="979482" cy="67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3894">
                <a:solidFill>
                  <a:srgbClr val="9BA0BB">
                    <a:alpha val="73725"/>
                  </a:srgbClr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04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580416" y="1461674"/>
            <a:ext cx="7706584" cy="66851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5577"/>
              </a:lnSpc>
              <a:defRPr/>
            </a:pPr>
            <a:r>
              <a:rPr lang="ko-KR" altLang="en-US" sz="3984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구현 시 발생한 문제점과 해결과정</a:t>
            </a:r>
            <a:endParaRPr lang="en-US" altLang="ko-KR" sz="3984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419733" y="2460823"/>
            <a:ext cx="3192412" cy="49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70" lvl="1" indent="-315035" algn="l">
              <a:lnSpc>
                <a:spcPts val="4085"/>
              </a:lnSpc>
              <a:buFont typeface="Arial"/>
              <a:buChar char="•"/>
            </a:pPr>
            <a:r>
              <a:rPr lang="en-US" sz="2918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문제 해결 과정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645069" y="3146661"/>
            <a:ext cx="15130224" cy="6111639"/>
            <a:chOff x="0" y="0"/>
            <a:chExt cx="3847384" cy="155409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847384" cy="1554096"/>
            </a:xfrm>
            <a:custGeom>
              <a:avLst/>
              <a:gdLst/>
              <a:ahLst/>
              <a:cxnLst/>
              <a:rect l="l" t="t" r="r" b="b"/>
              <a:pathLst>
                <a:path w="3847384" h="1554096">
                  <a:moveTo>
                    <a:pt x="10234" y="0"/>
                  </a:moveTo>
                  <a:lnTo>
                    <a:pt x="3837150" y="0"/>
                  </a:lnTo>
                  <a:cubicBezTo>
                    <a:pt x="3842802" y="0"/>
                    <a:pt x="3847384" y="4582"/>
                    <a:pt x="3847384" y="10234"/>
                  </a:cubicBezTo>
                  <a:lnTo>
                    <a:pt x="3847384" y="1543862"/>
                  </a:lnTo>
                  <a:cubicBezTo>
                    <a:pt x="3847384" y="1546576"/>
                    <a:pt x="3846306" y="1549179"/>
                    <a:pt x="3844387" y="1551099"/>
                  </a:cubicBezTo>
                  <a:cubicBezTo>
                    <a:pt x="3842467" y="1553018"/>
                    <a:pt x="3839864" y="1554096"/>
                    <a:pt x="3837150" y="1554096"/>
                  </a:cubicBezTo>
                  <a:lnTo>
                    <a:pt x="10234" y="1554096"/>
                  </a:lnTo>
                  <a:cubicBezTo>
                    <a:pt x="7520" y="1554096"/>
                    <a:pt x="4917" y="1553018"/>
                    <a:pt x="2997" y="1551099"/>
                  </a:cubicBezTo>
                  <a:cubicBezTo>
                    <a:pt x="1078" y="1549179"/>
                    <a:pt x="0" y="1546576"/>
                    <a:pt x="0" y="1543862"/>
                  </a:cubicBezTo>
                  <a:lnTo>
                    <a:pt x="0" y="10234"/>
                  </a:lnTo>
                  <a:cubicBezTo>
                    <a:pt x="0" y="7520"/>
                    <a:pt x="1078" y="4917"/>
                    <a:pt x="2997" y="2997"/>
                  </a:cubicBezTo>
                  <a:cubicBezTo>
                    <a:pt x="4917" y="1078"/>
                    <a:pt x="7520" y="0"/>
                    <a:pt x="10234" y="0"/>
                  </a:cubicBez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3847384" cy="1592196"/>
            </a:xfrm>
            <a:prstGeom prst="rect">
              <a:avLst/>
            </a:prstGeom>
          </p:spPr>
          <p:txBody>
            <a:bodyPr lIns="52616" tIns="52616" rIns="52616" bIns="5261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835781" y="3523439"/>
            <a:ext cx="4760061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입력값 오류 문제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909474" y="4260039"/>
            <a:ext cx="13101462" cy="4614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3131"/>
                </a:solidFill>
                <a:latin typeface="TDTD순고딕"/>
                <a:ea typeface="TDTD순고딕"/>
                <a:cs typeface="TDTD순고딕"/>
                <a:sym typeface="TDTD순고딕"/>
              </a:rPr>
              <a:t> 입력값 오류 발생 → 예외 처리 + 사용자 피드백 강화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99" b="1">
              <a:solidFill>
                <a:srgbClr val="FF3131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해결과정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예외 처리와 UI 오류 방지에 대한 지식이 부족하여 구글링과 유튜브를 통해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      ValueError, TypeError 등 기본 예외 종류를 학습.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Tkinter의 messagebox 사용법 역시 구글링과 유튜브를 참고.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이후 AI를 통해 Tkinter에서 잘못된 사용자 입력을 처리하는 예외 처리 패턴을 질문하고  try/except + messagebox.showerror() 구조 확정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b="1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TDTD순고딕"/>
                <a:ea typeface="TDTD순고딕"/>
                <a:cs typeface="TDTD순고딕"/>
                <a:sym typeface="TDTD순고딕"/>
              </a:rPr>
              <a:t>→ 잘못된 입력에도 프로그램이 종료되지 않는 안정적인 UX 확보.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 b="1">
              <a:solidFill>
                <a:srgbClr val="000000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9182" y="4654503"/>
            <a:ext cx="6869633" cy="94619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492"/>
              </a:lnSpc>
              <a:defRPr/>
            </a:pPr>
            <a:r>
              <a:rPr lang="en-US" sz="6514" b="1" spc="-214">
                <a:solidFill>
                  <a:srgbClr val="191919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결론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290868" y="10008764"/>
            <a:ext cx="18869735" cy="120011"/>
            <a:chOff x="0" y="0"/>
            <a:chExt cx="4969807" cy="3160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343D63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168574" y="4154743"/>
            <a:ext cx="4166602" cy="1056924"/>
            <a:chOff x="0" y="0"/>
            <a:chExt cx="5555470" cy="1409232"/>
          </a:xfrm>
        </p:grpSpPr>
        <p:grpSp>
          <p:nvGrpSpPr>
            <p:cNvPr id="13" name="Group 13"/>
            <p:cNvGrpSpPr/>
            <p:nvPr/>
          </p:nvGrpSpPr>
          <p:grpSpPr>
            <a:xfrm>
              <a:off x="127806" y="91911"/>
              <a:ext cx="5427664" cy="1317321"/>
              <a:chOff x="0" y="0"/>
              <a:chExt cx="1072131" cy="26021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72131" cy="260212"/>
              </a:xfrm>
              <a:custGeom>
                <a:avLst/>
                <a:gdLst/>
                <a:ahLst/>
                <a:cxnLst/>
                <a:rect l="l" t="t" r="r" b="b"/>
                <a:pathLst>
                  <a:path w="1072131" h="260212">
                    <a:moveTo>
                      <a:pt x="15215" y="0"/>
                    </a:moveTo>
                    <a:lnTo>
                      <a:pt x="1056916" y="0"/>
                    </a:lnTo>
                    <a:cubicBezTo>
                      <a:pt x="1065319" y="0"/>
                      <a:pt x="1072131" y="6812"/>
                      <a:pt x="1072131" y="15215"/>
                    </a:cubicBezTo>
                    <a:lnTo>
                      <a:pt x="1072131" y="244997"/>
                    </a:lnTo>
                    <a:cubicBezTo>
                      <a:pt x="1072131" y="253400"/>
                      <a:pt x="1065319" y="260212"/>
                      <a:pt x="1056916" y="260212"/>
                    </a:cubicBezTo>
                    <a:lnTo>
                      <a:pt x="15215" y="260212"/>
                    </a:lnTo>
                    <a:cubicBezTo>
                      <a:pt x="6812" y="260212"/>
                      <a:pt x="0" y="253400"/>
                      <a:pt x="0" y="244997"/>
                    </a:cubicBezTo>
                    <a:lnTo>
                      <a:pt x="0" y="15215"/>
                    </a:lnTo>
                    <a:cubicBezTo>
                      <a:pt x="0" y="6812"/>
                      <a:pt x="6812" y="0"/>
                      <a:pt x="15215" y="0"/>
                    </a:cubicBezTo>
                    <a:close/>
                  </a:path>
                </a:pathLst>
              </a:custGeom>
              <a:solidFill>
                <a:srgbClr val="F6F8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1072131" cy="3078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5427664" cy="1285258"/>
              <a:chOff x="0" y="0"/>
              <a:chExt cx="1072131" cy="25387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72131" cy="253878"/>
              </a:xfrm>
              <a:custGeom>
                <a:avLst/>
                <a:gdLst/>
                <a:ahLst/>
                <a:cxnLst/>
                <a:rect l="l" t="t" r="r" b="b"/>
                <a:pathLst>
                  <a:path w="1072131" h="253878">
                    <a:moveTo>
                      <a:pt x="15215" y="0"/>
                    </a:moveTo>
                    <a:lnTo>
                      <a:pt x="1056916" y="0"/>
                    </a:lnTo>
                    <a:cubicBezTo>
                      <a:pt x="1065319" y="0"/>
                      <a:pt x="1072131" y="6812"/>
                      <a:pt x="1072131" y="15215"/>
                    </a:cubicBezTo>
                    <a:lnTo>
                      <a:pt x="1072131" y="238663"/>
                    </a:lnTo>
                    <a:cubicBezTo>
                      <a:pt x="1072131" y="247066"/>
                      <a:pt x="1065319" y="253878"/>
                      <a:pt x="1056916" y="253878"/>
                    </a:cubicBezTo>
                    <a:lnTo>
                      <a:pt x="15215" y="253878"/>
                    </a:lnTo>
                    <a:cubicBezTo>
                      <a:pt x="6812" y="253878"/>
                      <a:pt x="0" y="247066"/>
                      <a:pt x="0" y="238663"/>
                    </a:cubicBezTo>
                    <a:lnTo>
                      <a:pt x="0" y="15215"/>
                    </a:lnTo>
                    <a:cubicBezTo>
                      <a:pt x="0" y="6812"/>
                      <a:pt x="6812" y="0"/>
                      <a:pt x="15215" y="0"/>
                    </a:cubicBezTo>
                    <a:close/>
                  </a:path>
                </a:pathLst>
              </a:custGeom>
              <a:solidFill>
                <a:srgbClr val="9CA3C2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1072131" cy="3015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F2F5FF"/>
                    </a:solidFill>
                    <a:latin typeface="210 국민체조"/>
                    <a:ea typeface="210 국민체조"/>
                    <a:cs typeface="210 국민체조"/>
                    <a:sym typeface="210 국민체조"/>
                  </a:rPr>
                  <a:t> 산업적 활용 가능성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2168574" y="5350745"/>
            <a:ext cx="13771091" cy="3452159"/>
            <a:chOff x="0" y="0"/>
            <a:chExt cx="3626954" cy="9092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626954" cy="909211"/>
            </a:xfrm>
            <a:custGeom>
              <a:avLst/>
              <a:gdLst/>
              <a:ahLst/>
              <a:cxnLst/>
              <a:rect l="l" t="t" r="r" b="b"/>
              <a:pathLst>
                <a:path w="3626954" h="909211">
                  <a:moveTo>
                    <a:pt x="0" y="0"/>
                  </a:moveTo>
                  <a:lnTo>
                    <a:pt x="3626954" y="0"/>
                  </a:lnTo>
                  <a:lnTo>
                    <a:pt x="3626954" y="909211"/>
                  </a:lnTo>
                  <a:lnTo>
                    <a:pt x="0" y="9092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3626954" cy="975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D63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 지자체가 실제로 도입 가능한 지역 기반 매칭 시스템 프로토타입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D63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시니어 일자리·취미 플랫폼 시장은 최근 빠르게 성장 중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D63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복지센터, 문화센터, 지자체 담당자용 관리자 버전 확장 가능성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D63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향후 민·관 협업 모델로 발전 가능</a:t>
              </a:r>
            </a:p>
            <a:p>
              <a:pPr algn="l">
                <a:lnSpc>
                  <a:spcPts val="3079"/>
                </a:lnSpc>
              </a:pPr>
              <a:endParaRPr lang="en-US" sz="2799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23" name="Group 2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47" name="AutoShape 4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71" name="TextBox 71"/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06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580416" y="1699799"/>
            <a:ext cx="8409004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결론</a:t>
            </a:r>
          </a:p>
        </p:txBody>
      </p:sp>
      <p:sp>
        <p:nvSpPr>
          <p:cNvPr id="73" name="Freeform 73"/>
          <p:cNvSpPr/>
          <p:nvPr/>
        </p:nvSpPr>
        <p:spPr>
          <a:xfrm>
            <a:off x="3440328" y="2433209"/>
            <a:ext cx="1456118" cy="1534224"/>
          </a:xfrm>
          <a:custGeom>
            <a:avLst/>
            <a:gdLst/>
            <a:ahLst/>
            <a:cxnLst/>
            <a:rect l="l" t="t" r="r" b="b"/>
            <a:pathLst>
              <a:path w="1456118" h="1534224">
                <a:moveTo>
                  <a:pt x="0" y="0"/>
                </a:moveTo>
                <a:lnTo>
                  <a:pt x="1456119" y="0"/>
                </a:lnTo>
                <a:lnTo>
                  <a:pt x="1456119" y="1534224"/>
                </a:lnTo>
                <a:lnTo>
                  <a:pt x="0" y="1534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168574" y="4154743"/>
            <a:ext cx="4166602" cy="1056924"/>
            <a:chOff x="0" y="0"/>
            <a:chExt cx="5555470" cy="1409232"/>
          </a:xfrm>
        </p:grpSpPr>
        <p:grpSp>
          <p:nvGrpSpPr>
            <p:cNvPr id="13" name="Group 13"/>
            <p:cNvGrpSpPr/>
            <p:nvPr/>
          </p:nvGrpSpPr>
          <p:grpSpPr>
            <a:xfrm>
              <a:off x="127806" y="91911"/>
              <a:ext cx="5427664" cy="1317321"/>
              <a:chOff x="0" y="0"/>
              <a:chExt cx="1072131" cy="26021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72131" cy="260212"/>
              </a:xfrm>
              <a:custGeom>
                <a:avLst/>
                <a:gdLst/>
                <a:ahLst/>
                <a:cxnLst/>
                <a:rect l="l" t="t" r="r" b="b"/>
                <a:pathLst>
                  <a:path w="1072131" h="260212">
                    <a:moveTo>
                      <a:pt x="15215" y="0"/>
                    </a:moveTo>
                    <a:lnTo>
                      <a:pt x="1056916" y="0"/>
                    </a:lnTo>
                    <a:cubicBezTo>
                      <a:pt x="1065319" y="0"/>
                      <a:pt x="1072131" y="6812"/>
                      <a:pt x="1072131" y="15215"/>
                    </a:cubicBezTo>
                    <a:lnTo>
                      <a:pt x="1072131" y="244997"/>
                    </a:lnTo>
                    <a:cubicBezTo>
                      <a:pt x="1072131" y="253400"/>
                      <a:pt x="1065319" y="260212"/>
                      <a:pt x="1056916" y="260212"/>
                    </a:cubicBezTo>
                    <a:lnTo>
                      <a:pt x="15215" y="260212"/>
                    </a:lnTo>
                    <a:cubicBezTo>
                      <a:pt x="6812" y="260212"/>
                      <a:pt x="0" y="253400"/>
                      <a:pt x="0" y="244997"/>
                    </a:cubicBezTo>
                    <a:lnTo>
                      <a:pt x="0" y="15215"/>
                    </a:lnTo>
                    <a:cubicBezTo>
                      <a:pt x="0" y="6812"/>
                      <a:pt x="6812" y="0"/>
                      <a:pt x="15215" y="0"/>
                    </a:cubicBezTo>
                    <a:close/>
                  </a:path>
                </a:pathLst>
              </a:custGeom>
              <a:solidFill>
                <a:srgbClr val="F6F8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1072131" cy="3078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5427664" cy="1285258"/>
              <a:chOff x="0" y="0"/>
              <a:chExt cx="1072131" cy="25387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72131" cy="253878"/>
              </a:xfrm>
              <a:custGeom>
                <a:avLst/>
                <a:gdLst/>
                <a:ahLst/>
                <a:cxnLst/>
                <a:rect l="l" t="t" r="r" b="b"/>
                <a:pathLst>
                  <a:path w="1072131" h="253878">
                    <a:moveTo>
                      <a:pt x="15215" y="0"/>
                    </a:moveTo>
                    <a:lnTo>
                      <a:pt x="1056916" y="0"/>
                    </a:lnTo>
                    <a:cubicBezTo>
                      <a:pt x="1065319" y="0"/>
                      <a:pt x="1072131" y="6812"/>
                      <a:pt x="1072131" y="15215"/>
                    </a:cubicBezTo>
                    <a:lnTo>
                      <a:pt x="1072131" y="238663"/>
                    </a:lnTo>
                    <a:cubicBezTo>
                      <a:pt x="1072131" y="247066"/>
                      <a:pt x="1065319" y="253878"/>
                      <a:pt x="1056916" y="253878"/>
                    </a:cubicBezTo>
                    <a:lnTo>
                      <a:pt x="15215" y="253878"/>
                    </a:lnTo>
                    <a:cubicBezTo>
                      <a:pt x="6812" y="253878"/>
                      <a:pt x="0" y="247066"/>
                      <a:pt x="0" y="238663"/>
                    </a:cubicBezTo>
                    <a:lnTo>
                      <a:pt x="0" y="15215"/>
                    </a:lnTo>
                    <a:cubicBezTo>
                      <a:pt x="0" y="6812"/>
                      <a:pt x="6812" y="0"/>
                      <a:pt x="15215" y="0"/>
                    </a:cubicBezTo>
                    <a:close/>
                  </a:path>
                </a:pathLst>
              </a:custGeom>
              <a:solidFill>
                <a:srgbClr val="9CA3C2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1072131" cy="3015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F2F5FF"/>
                    </a:solidFill>
                    <a:latin typeface="210 국민체조"/>
                    <a:ea typeface="210 국민체조"/>
                    <a:cs typeface="210 국민체조"/>
                    <a:sym typeface="210 국민체조"/>
                  </a:rPr>
                  <a:t> 사회적 파급력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2168574" y="5350745"/>
            <a:ext cx="13771091" cy="3452159"/>
            <a:chOff x="0" y="0"/>
            <a:chExt cx="3626954" cy="9092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626954" cy="909211"/>
            </a:xfrm>
            <a:custGeom>
              <a:avLst/>
              <a:gdLst/>
              <a:ahLst/>
              <a:cxnLst/>
              <a:rect l="l" t="t" r="r" b="b"/>
              <a:pathLst>
                <a:path w="3626954" h="909211">
                  <a:moveTo>
                    <a:pt x="0" y="0"/>
                  </a:moveTo>
                  <a:lnTo>
                    <a:pt x="3626954" y="0"/>
                  </a:lnTo>
                  <a:lnTo>
                    <a:pt x="3626954" y="909211"/>
                  </a:lnTo>
                  <a:lnTo>
                    <a:pt x="0" y="9092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3626954" cy="975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D63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 고립감 감소 → 심리 안정 및 지역 사회 참여 증가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D63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 취미 기반 일자리는 삶의 의미감·자아존중감 향상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D63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 가족·복지사의 부담 감소 (대리 입력, 간편 추천 기능)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D63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 커뮤니티 활성화 → 지역경제·사회적 자본 증가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43D63"/>
                  </a:solidFill>
                  <a:latin typeface="210 국민체조"/>
                  <a:ea typeface="210 국민체조"/>
                  <a:cs typeface="210 국민체조"/>
                  <a:sym typeface="210 국민체조"/>
                </a:rPr>
                <a:t> 고령화 사회에서 복지 비용 절감과 인력 재활용 효과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23" name="Group 23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47" name="AutoShape 47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71" name="TextBox 71"/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06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580416" y="1699799"/>
            <a:ext cx="8409004" cy="710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결론</a:t>
            </a:r>
          </a:p>
        </p:txBody>
      </p:sp>
      <p:sp>
        <p:nvSpPr>
          <p:cNvPr id="73" name="Freeform 73"/>
          <p:cNvSpPr/>
          <p:nvPr/>
        </p:nvSpPr>
        <p:spPr>
          <a:xfrm>
            <a:off x="3314621" y="2433209"/>
            <a:ext cx="1706218" cy="1420814"/>
          </a:xfrm>
          <a:custGeom>
            <a:avLst/>
            <a:gdLst/>
            <a:ahLst/>
            <a:cxnLst/>
            <a:rect l="l" t="t" r="r" b="b"/>
            <a:pathLst>
              <a:path w="1706218" h="1420814">
                <a:moveTo>
                  <a:pt x="0" y="0"/>
                </a:moveTo>
                <a:lnTo>
                  <a:pt x="1706218" y="0"/>
                </a:lnTo>
                <a:lnTo>
                  <a:pt x="1706218" y="1420814"/>
                </a:lnTo>
                <a:lnTo>
                  <a:pt x="0" y="14208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8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243131" y="1506124"/>
            <a:ext cx="1337285" cy="10275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8119"/>
              </a:lnSpc>
              <a:defRPr/>
            </a:pPr>
            <a:r>
              <a:rPr lang="en-US" sz="5800">
                <a:solidFill>
                  <a:srgbClr val="9BA0BB">
                    <a:alpha val="73720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80416" y="1683289"/>
            <a:ext cx="6618117" cy="7074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출처.참고문헌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70987" y="5467018"/>
            <a:ext cx="2804279" cy="4908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92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진행 상황 요약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7" name="Group 17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189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sp>
          <p:nvSpPr>
            <p:cNvPr id="41" name="AutoShape 41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w="sm" len="sm"/>
              <a:tailEnd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w="sm" len="sm"/>
              <a:tailEnd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w="sm" len="sm"/>
              <a:tailEnd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</p:grpSp>
      <p:sp>
        <p:nvSpPr>
          <p:cNvPr id="65" name="TextBox 65"/>
          <p:cNvSpPr txBox="1"/>
          <p:nvPr/>
        </p:nvSpPr>
        <p:spPr>
          <a:xfrm>
            <a:off x="2346301" y="3026932"/>
            <a:ext cx="14671832" cy="54979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[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서론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]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서울경제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https://www.sedaily.com/NewsView/2H0LSFINF3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한국은행 2차 베이비부머의 은퇴연령 진입에 따른 경제적 영향 평가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2023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KB골든라이프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보고서</a:t>
            </a:r>
            <a:endParaRPr lang="en-US" altLang="ko-KR" sz="1400" b="0" i="0" u="none" strike="noStrike" baseline="0" dirty="0">
              <a:latin typeface="맑은 고딕"/>
              <a:ea typeface="맑은 고딕"/>
              <a:cs typeface="맑은 고딕"/>
            </a:endParaRP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[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본론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]</a:t>
            </a:r>
            <a:endParaRPr lang="ar-DZ" altLang="en-US" sz="1400" b="0" i="0" u="none" strike="noStrike" baseline="0" dirty="0">
              <a:latin typeface="맑은 고딕"/>
              <a:ea typeface="맑은 고딕"/>
              <a:cs typeface="맑은 고딕"/>
            </a:endParaRP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  <a:hlinkClick r:id="rId3"/>
              </a:rPr>
              <a:t>https://m.100news.kr/6968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﻿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  <a:hlinkClick r:id="rId4"/>
              </a:rPr>
              <a:t>https://news.kbs.co.kr/news/mobile/view/view.do?ncd=3198494</a:t>
            </a:r>
            <a:endParaRPr lang="ar-DZ" altLang="en-US" sz="1400" b="0" i="0" u="none" strike="noStrike" baseline="0" dirty="0">
              <a:latin typeface="맑은 고딕"/>
              <a:ea typeface="맑은 고딕"/>
              <a:cs typeface="맑은 고딕"/>
            </a:endParaRP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﻿Korea Times, 2024, “1 out of 3 elderly Koreans living alone have no one to talk to”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﻿BMC Geriatrics, 2024, “Older adults with low social activity show significantly higher depression scores”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﻿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JMIR Formative Research, 2025, “Digital literacy among Korean older adults directly impacts life satisfaction” 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Korea Times, 2024, “Senior citizens suffer digital divide amid contactless boom”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Asia Economy(2025), “42% of Seniors Aged 60 and Older Feel 'Lonely'”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Korea Times(2024), “1 out of 3 elderly Koreans living alone have no one to  talk to”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BMC Geriatrics(2024), “Exploring social activity patterns among community-dwelling older adults in South Korea”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https://www.dbpia.co.kr/Journal/articleDetail?nodeId=NODE07430025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Korea Times(2025), “40% of elderly disabled Koreans live alone: report”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한국은행, 고령층 경제활동 및 사회참여 관련 연구 보고서</a:t>
            </a:r>
          </a:p>
          <a:p>
            <a:pPr marL="508000" lvl="0" indent="-228600">
              <a:spcAft>
                <a:spcPts val="800"/>
              </a:spcAft>
              <a:defRPr/>
            </a:pPr>
            <a:endParaRPr lang="ko-KR" altLang="en-US" sz="1400" b="0" i="0" u="none" strike="noStrike" baseline="0" dirty="0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06318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0630" y="838519"/>
            <a:ext cx="16435806" cy="8766225"/>
            <a:chOff x="0" y="0"/>
            <a:chExt cx="21914408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1243131" y="1506124"/>
            <a:ext cx="1337285" cy="10275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8119"/>
              </a:lnSpc>
              <a:defRPr/>
            </a:pPr>
            <a:r>
              <a:rPr lang="en-US" sz="5800">
                <a:solidFill>
                  <a:srgbClr val="9BA0BB">
                    <a:alpha val="73720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80416" y="1683289"/>
            <a:ext cx="6618117" cy="7074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en-US" sz="3999" b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출처.참고문헌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70987" y="5467018"/>
            <a:ext cx="2804279" cy="4908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92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진행 상황 요약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7" name="Group 17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189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sp>
          <p:nvSpPr>
            <p:cNvPr id="41" name="AutoShape 41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w="sm" len="sm"/>
              <a:tailEnd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w="sm" len="sm"/>
              <a:tailEnd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w="sm" len="sm"/>
              <a:tailEnd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</p:grpSp>
      <p:sp>
        <p:nvSpPr>
          <p:cNvPr id="65" name="TextBox 65"/>
          <p:cNvSpPr txBox="1"/>
          <p:nvPr/>
        </p:nvSpPr>
        <p:spPr>
          <a:xfrm>
            <a:off x="2346301" y="3026931"/>
            <a:ext cx="14671832" cy="518361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[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본론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]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https://www.hani.co.kr/arti/society/society_general/966269.html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https://www.worklaw.co.kr/main2022/view/view.asp?in_cate=125&amp;gopage=1&amp;bi_pidx=38005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ar-DZ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https://www.riss.kr/search/detail/DetailView.do?p_mat_type=be54d9b8bc7cdb09&amp;control_no=ab2ae307f565c575ffe0bdc3ef48d419&amp;ou</a:t>
            </a:r>
            <a:endParaRPr lang="en-US" altLang="ko-KR" sz="1400" b="0" i="0" u="none" strike="noStrike" baseline="0" dirty="0">
              <a:latin typeface="맑은 고딕"/>
              <a:ea typeface="맑은 고딕"/>
              <a:cs typeface="맑은 고딕"/>
            </a:endParaRP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JMIR Formative Research(2025), “Digital literacy and life satisfaction among older adults in South Korea”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Korea Times(2024), “Senior citizens suffer growing digital divide amid contactless boom”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Korea JoongAng Daily(2025), "Behind Korea's high senior employment rate: A need for more meaningful work"-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보건복지부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노인일자리사업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자료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서울시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평생학습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지원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문서</a:t>
            </a:r>
            <a:endParaRPr lang="en-US" altLang="ko-KR" sz="1400" b="0" i="0" u="none" strike="noStrike" baseline="0" dirty="0">
              <a:latin typeface="맑은 고딕"/>
              <a:ea typeface="맑은 고딕"/>
              <a:cs typeface="맑은 고딕"/>
            </a:endParaRP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BMC Geriatrics(2024),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한국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고령층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사회활동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연구</a:t>
            </a:r>
            <a:endParaRPr lang="en-US" altLang="ko-KR" sz="1400" b="0" i="0" u="none" strike="noStrike" baseline="0" dirty="0">
              <a:latin typeface="맑은 고딕"/>
              <a:ea typeface="맑은 고딕"/>
              <a:cs typeface="맑은 고딕"/>
            </a:endParaRP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한국일보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(2025),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고령층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외로움·고립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조사</a:t>
            </a:r>
            <a:endParaRPr lang="en-US" altLang="ko-KR" sz="1400" b="0" i="0" u="none" strike="noStrike" baseline="0" dirty="0">
              <a:latin typeface="맑은 고딕"/>
              <a:ea typeface="맑은 고딕"/>
              <a:cs typeface="맑은 고딕"/>
            </a:endParaRP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한국보건사회연구원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,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고령사회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커뮤니티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연구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 err="1">
                <a:latin typeface="맑은 고딕"/>
                <a:ea typeface="맑은 고딕"/>
                <a:cs typeface="맑은 고딕"/>
              </a:rPr>
              <a:t>결과</a:t>
            </a:r>
            <a:endParaRPr lang="en-US" altLang="ko-KR" sz="1400" b="0" i="0" u="none" strike="noStrike" baseline="0" dirty="0">
              <a:latin typeface="맑은 고딕"/>
              <a:ea typeface="맑은 고딕"/>
              <a:cs typeface="맑은 고딕"/>
            </a:endParaRP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https://www.seoullabor.or.kr/portal/bbs/selectBbs.do?bbs_code=A1006&amp;bbs_seq=1753&amp;utm_source=chatgpt.com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https://news.seoul.go.kr/welfare/archives/575264?utm_source=chatgpt.com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https://v.daum.net/v/20240703080141319?utm_source=chatgpt.com 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https://www.seoullabor.or.kr/portal/bbs/selectBbs.do?bbs_code=A1006&amp;bbs_seq=1753&amp;utm_source=chatgpt.com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https://www.mohw.go.kr/menu.es?mid=a10712020100&amp;utm_source=chatgpt.com</a:t>
            </a:r>
          </a:p>
          <a:p>
            <a:pPr marL="508000" lvl="0" indent="-228600">
              <a:spcAft>
                <a:spcPts val="800"/>
              </a:spcAft>
              <a:defRPr/>
            </a:pP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1400" b="0" i="0" u="none" strike="noStrike" baseline="0" dirty="0"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400" b="0" i="0" u="none" strike="noStrike" baseline="0" dirty="0">
                <a:latin typeface="맑은 고딕"/>
                <a:ea typeface="맑은 고딕"/>
                <a:cs typeface="맑은 고딕"/>
              </a:rPr>
              <a:t>https://www.mk.co.kr/news/it/10560973?utm_source=chatgpt.com </a:t>
            </a:r>
          </a:p>
        </p:txBody>
      </p:sp>
    </p:spTree>
    <p:extLst>
      <p:ext uri="{BB962C8B-B14F-4D97-AF65-F5344CB8AC3E}">
        <p14:creationId xmlns:p14="http://schemas.microsoft.com/office/powerpoint/2010/main" val="15871244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3CD6-BAE5-0ED4-B8FD-6280D8096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F9CBBF-F765-AB06-2F97-1D6035EE557F}"/>
              </a:ext>
            </a:extLst>
          </p:cNvPr>
          <p:cNvGrpSpPr/>
          <p:nvPr/>
        </p:nvGrpSpPr>
        <p:grpSpPr>
          <a:xfrm>
            <a:off x="920841" y="1011965"/>
            <a:ext cx="16435806" cy="8766225"/>
            <a:chOff x="0" y="0"/>
            <a:chExt cx="21914408" cy="116883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CF708A6-D71C-F616-10C8-F7470BC4D72E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2CBFB5D4-E5C6-6E18-5FD4-92F1B412F1DB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485E3C27-3D83-0B4B-64C6-6DB0E9BCAF9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9955A5D-E4BA-D14E-F5E0-016D6B5CEB01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24F4EADE-F4AB-39A5-A9A7-EEA4EB0A08A1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50D1ADC-8353-EE5F-64C0-1903604E723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6B95A2C-9946-6046-8E37-93AD81980572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C6B27EB-2317-2585-066E-1B059932A47F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505DCA7-774F-604A-ADF0-0181791371A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079"/>
                  </a:lnSpc>
                  <a:defRPr/>
                </a:pPr>
                <a:endParaRPr lang="ko-KR" altLang="en-US"/>
              </a:p>
            </p:txBody>
          </p:sp>
        </p:grp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87CC957-FFC7-73C7-969A-8AE5818A4384}"/>
              </a:ext>
            </a:extLst>
          </p:cNvPr>
          <p:cNvSpPr txBox="1"/>
          <p:nvPr/>
        </p:nvSpPr>
        <p:spPr>
          <a:xfrm>
            <a:off x="1243131" y="1506124"/>
            <a:ext cx="1337285" cy="97539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8119"/>
              </a:lnSpc>
              <a:defRPr/>
            </a:pPr>
            <a:r>
              <a:rPr lang="en-US" sz="5800" dirty="0">
                <a:solidFill>
                  <a:srgbClr val="9BA0BB">
                    <a:alpha val="73720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08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AD3ED90-8505-03F4-6790-FE27818E64A4}"/>
              </a:ext>
            </a:extLst>
          </p:cNvPr>
          <p:cNvSpPr txBox="1"/>
          <p:nvPr/>
        </p:nvSpPr>
        <p:spPr>
          <a:xfrm>
            <a:off x="2580416" y="1683289"/>
            <a:ext cx="6618117" cy="6690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99"/>
              </a:lnSpc>
              <a:defRPr/>
            </a:pPr>
            <a:r>
              <a:rPr lang="ko-KR" altLang="en-US" sz="3999" b="1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팀원 역할 분담</a:t>
            </a:r>
            <a:endParaRPr lang="en-US" sz="3999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507C748-1620-08A6-4B04-E369C9039D7D}"/>
              </a:ext>
            </a:extLst>
          </p:cNvPr>
          <p:cNvSpPr txBox="1"/>
          <p:nvPr/>
        </p:nvSpPr>
        <p:spPr>
          <a:xfrm>
            <a:off x="3570987" y="5467018"/>
            <a:ext cx="2804279" cy="4908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92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진행 상황 요약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80B626A-3E72-5FC2-9C5F-BA6D6AC73744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FD6DE72F-0537-60DA-5069-3EFA81946542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2C1AF6F9-7B05-B420-2C20-F9329DCEC7C2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D9E2DD35-970D-EA08-8C05-7D503C1D97A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0A7E88DF-9CE8-8FE5-D2F4-B5BEF2E7D9C8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0169205E-F291-D0A7-42AB-24E29826DFE1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" name="TextBox 22">
                <a:extLst>
                  <a:ext uri="{FF2B5EF4-FFF2-40B4-BE49-F238E27FC236}">
                    <a16:creationId xmlns:a16="http://schemas.microsoft.com/office/drawing/2014/main" id="{BD7BD331-21AB-7AA7-71C1-8FF1416D9D9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3" name="Group 23">
              <a:extLst>
                <a:ext uri="{FF2B5EF4-FFF2-40B4-BE49-F238E27FC236}">
                  <a16:creationId xmlns:a16="http://schemas.microsoft.com/office/drawing/2014/main" id="{98880D1D-B211-0136-FEFC-3E6DD23D3804}"/>
                </a:ext>
              </a:extLst>
            </p:cNvPr>
            <p:cNvGrpSpPr/>
            <p:nvPr/>
          </p:nvGrpSpPr>
          <p:grpSpPr>
            <a:xfrm rot="189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4" name="Freeform 24">
                <a:extLst>
                  <a:ext uri="{FF2B5EF4-FFF2-40B4-BE49-F238E27FC236}">
                    <a16:creationId xmlns:a16="http://schemas.microsoft.com/office/drawing/2014/main" id="{44D25AB7-63C7-B72D-2EB6-45CC3C05CD12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TextBox 25">
                <a:extLst>
                  <a:ext uri="{FF2B5EF4-FFF2-40B4-BE49-F238E27FC236}">
                    <a16:creationId xmlns:a16="http://schemas.microsoft.com/office/drawing/2014/main" id="{B9003202-0C72-A96A-1D3E-6237405FC0C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8B6C1D58-F2B0-EF13-2200-7FF63F91DB6C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7" name="Freeform 27">
                <a:extLst>
                  <a:ext uri="{FF2B5EF4-FFF2-40B4-BE49-F238E27FC236}">
                    <a16:creationId xmlns:a16="http://schemas.microsoft.com/office/drawing/2014/main" id="{2E2ADCF5-08D2-1130-152C-85FDC368218B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>
                <a:extLst>
                  <a:ext uri="{FF2B5EF4-FFF2-40B4-BE49-F238E27FC236}">
                    <a16:creationId xmlns:a16="http://schemas.microsoft.com/office/drawing/2014/main" id="{8FA43863-1B2A-8FAC-E78B-E9AA95397A3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9" name="Group 29">
              <a:extLst>
                <a:ext uri="{FF2B5EF4-FFF2-40B4-BE49-F238E27FC236}">
                  <a16:creationId xmlns:a16="http://schemas.microsoft.com/office/drawing/2014/main" id="{98904584-881D-3183-E0AC-3E4C728C11F3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30" name="Freeform 30">
                <a:extLst>
                  <a:ext uri="{FF2B5EF4-FFF2-40B4-BE49-F238E27FC236}">
                    <a16:creationId xmlns:a16="http://schemas.microsoft.com/office/drawing/2014/main" id="{CDED4496-F81A-D92A-715F-EE33190D3DCA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>
                <a:extLst>
                  <a:ext uri="{FF2B5EF4-FFF2-40B4-BE49-F238E27FC236}">
                    <a16:creationId xmlns:a16="http://schemas.microsoft.com/office/drawing/2014/main" id="{FF365F3D-66E3-6DF7-3C31-A528EC2E7CC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2" name="Group 32">
              <a:extLst>
                <a:ext uri="{FF2B5EF4-FFF2-40B4-BE49-F238E27FC236}">
                  <a16:creationId xmlns:a16="http://schemas.microsoft.com/office/drawing/2014/main" id="{0DCAB909-B518-AC4F-4B47-02E714532E90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33" name="Freeform 33">
                <a:extLst>
                  <a:ext uri="{FF2B5EF4-FFF2-40B4-BE49-F238E27FC236}">
                    <a16:creationId xmlns:a16="http://schemas.microsoft.com/office/drawing/2014/main" id="{946621D7-1C16-3578-8BC0-AC0C311FEAF9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11CF6DAF-38E5-1F65-8D35-A52929A6E48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5" name="Group 35">
              <a:extLst>
                <a:ext uri="{FF2B5EF4-FFF2-40B4-BE49-F238E27FC236}">
                  <a16:creationId xmlns:a16="http://schemas.microsoft.com/office/drawing/2014/main" id="{980DEF90-9303-3C80-C4C6-7ABDBBFC6ADF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6" name="Freeform 36">
                <a:extLst>
                  <a:ext uri="{FF2B5EF4-FFF2-40B4-BE49-F238E27FC236}">
                    <a16:creationId xmlns:a16="http://schemas.microsoft.com/office/drawing/2014/main" id="{065E4447-78AF-97B8-8292-6DF372B5C870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>
                <a:extLst>
                  <a:ext uri="{FF2B5EF4-FFF2-40B4-BE49-F238E27FC236}">
                    <a16:creationId xmlns:a16="http://schemas.microsoft.com/office/drawing/2014/main" id="{821F690B-F2AF-59DC-1915-575ADA7D8FE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8" name="Group 38">
              <a:extLst>
                <a:ext uri="{FF2B5EF4-FFF2-40B4-BE49-F238E27FC236}">
                  <a16:creationId xmlns:a16="http://schemas.microsoft.com/office/drawing/2014/main" id="{22945F2D-CCF7-1BDA-1D51-C3090E368D62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9" name="Freeform 39">
                <a:extLst>
                  <a:ext uri="{FF2B5EF4-FFF2-40B4-BE49-F238E27FC236}">
                    <a16:creationId xmlns:a16="http://schemas.microsoft.com/office/drawing/2014/main" id="{EBC007D1-5669-33BE-3BB8-414E1F4B9DCE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Box 40">
                <a:extLst>
                  <a:ext uri="{FF2B5EF4-FFF2-40B4-BE49-F238E27FC236}">
                    <a16:creationId xmlns:a16="http://schemas.microsoft.com/office/drawing/2014/main" id="{1AAF98C6-5220-7677-B088-21BB02557F5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sp>
          <p:nvSpPr>
            <p:cNvPr id="41" name="AutoShape 41">
              <a:extLst>
                <a:ext uri="{FF2B5EF4-FFF2-40B4-BE49-F238E27FC236}">
                  <a16:creationId xmlns:a16="http://schemas.microsoft.com/office/drawing/2014/main" id="{45CEA21C-E1FB-A76C-73CC-0659F8CA18D6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w="sm" len="sm"/>
              <a:tailEnd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AutoShape 42">
              <a:extLst>
                <a:ext uri="{FF2B5EF4-FFF2-40B4-BE49-F238E27FC236}">
                  <a16:creationId xmlns:a16="http://schemas.microsoft.com/office/drawing/2014/main" id="{B1152ADA-C802-4635-473B-E2DC0FC80B2A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w="sm" len="sm"/>
              <a:tailEnd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AutoShape 43">
              <a:extLst>
                <a:ext uri="{FF2B5EF4-FFF2-40B4-BE49-F238E27FC236}">
                  <a16:creationId xmlns:a16="http://schemas.microsoft.com/office/drawing/2014/main" id="{A039D05C-89EF-57A2-B96B-F38F4B9D25EB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w="sm" len="sm"/>
              <a:tailEnd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4" name="Group 44">
              <a:extLst>
                <a:ext uri="{FF2B5EF4-FFF2-40B4-BE49-F238E27FC236}">
                  <a16:creationId xmlns:a16="http://schemas.microsoft.com/office/drawing/2014/main" id="{CBD15C27-DBB8-DB1A-695B-1845AD615A09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5" name="Freeform 45">
                <a:extLst>
                  <a:ext uri="{FF2B5EF4-FFF2-40B4-BE49-F238E27FC236}">
                    <a16:creationId xmlns:a16="http://schemas.microsoft.com/office/drawing/2014/main" id="{69A3434E-93A2-C420-585A-7D73F36E4F0B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TextBox 46">
                <a:extLst>
                  <a:ext uri="{FF2B5EF4-FFF2-40B4-BE49-F238E27FC236}">
                    <a16:creationId xmlns:a16="http://schemas.microsoft.com/office/drawing/2014/main" id="{600FEA14-CCC6-532F-A76A-F075BCC9432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47" name="Group 47">
              <a:extLst>
                <a:ext uri="{FF2B5EF4-FFF2-40B4-BE49-F238E27FC236}">
                  <a16:creationId xmlns:a16="http://schemas.microsoft.com/office/drawing/2014/main" id="{9B94323F-39E9-F3CA-5F5A-138DB6CC46A7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8" name="Freeform 48">
                <a:extLst>
                  <a:ext uri="{FF2B5EF4-FFF2-40B4-BE49-F238E27FC236}">
                    <a16:creationId xmlns:a16="http://schemas.microsoft.com/office/drawing/2014/main" id="{0E8CC5DD-BA35-2F6B-59BE-753A7F06A985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9" name="TextBox 49">
                <a:extLst>
                  <a:ext uri="{FF2B5EF4-FFF2-40B4-BE49-F238E27FC236}">
                    <a16:creationId xmlns:a16="http://schemas.microsoft.com/office/drawing/2014/main" id="{233143F6-1484-4AA4-38B4-C70D5340AC8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0" name="Group 50">
              <a:extLst>
                <a:ext uri="{FF2B5EF4-FFF2-40B4-BE49-F238E27FC236}">
                  <a16:creationId xmlns:a16="http://schemas.microsoft.com/office/drawing/2014/main" id="{27F1474A-16D4-8CC9-7C49-6DAF13F29247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51" name="Freeform 51">
                <a:extLst>
                  <a:ext uri="{FF2B5EF4-FFF2-40B4-BE49-F238E27FC236}">
                    <a16:creationId xmlns:a16="http://schemas.microsoft.com/office/drawing/2014/main" id="{FCA74BD1-2509-3D36-D877-538CC870CE91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Box 52">
                <a:extLst>
                  <a:ext uri="{FF2B5EF4-FFF2-40B4-BE49-F238E27FC236}">
                    <a16:creationId xmlns:a16="http://schemas.microsoft.com/office/drawing/2014/main" id="{B34837D1-6BEB-2460-7DBB-469C1D9A8C5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3" name="Group 53">
              <a:extLst>
                <a:ext uri="{FF2B5EF4-FFF2-40B4-BE49-F238E27FC236}">
                  <a16:creationId xmlns:a16="http://schemas.microsoft.com/office/drawing/2014/main" id="{911F8A6A-DE99-66C8-37BB-FF2757EA3368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4" name="Freeform 54">
                <a:extLst>
                  <a:ext uri="{FF2B5EF4-FFF2-40B4-BE49-F238E27FC236}">
                    <a16:creationId xmlns:a16="http://schemas.microsoft.com/office/drawing/2014/main" id="{61EC6FDF-B6D8-CC9A-DE96-6DBB85636C6F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>
                <a:extLst>
                  <a:ext uri="{FF2B5EF4-FFF2-40B4-BE49-F238E27FC236}">
                    <a16:creationId xmlns:a16="http://schemas.microsoft.com/office/drawing/2014/main" id="{FB26FDE0-9F2E-976C-A9A9-FC1DBFABF594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6" name="Group 56">
              <a:extLst>
                <a:ext uri="{FF2B5EF4-FFF2-40B4-BE49-F238E27FC236}">
                  <a16:creationId xmlns:a16="http://schemas.microsoft.com/office/drawing/2014/main" id="{FAD9474D-D21D-87F7-C87E-DB175229F558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7" name="Freeform 57">
                <a:extLst>
                  <a:ext uri="{FF2B5EF4-FFF2-40B4-BE49-F238E27FC236}">
                    <a16:creationId xmlns:a16="http://schemas.microsoft.com/office/drawing/2014/main" id="{C77791EC-ABAA-8347-E437-4A04B7CA8FCB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>
                <a:extLst>
                  <a:ext uri="{FF2B5EF4-FFF2-40B4-BE49-F238E27FC236}">
                    <a16:creationId xmlns:a16="http://schemas.microsoft.com/office/drawing/2014/main" id="{186F0734-961C-2E06-E4F8-6C8175E9172F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59" name="Group 59">
              <a:extLst>
                <a:ext uri="{FF2B5EF4-FFF2-40B4-BE49-F238E27FC236}">
                  <a16:creationId xmlns:a16="http://schemas.microsoft.com/office/drawing/2014/main" id="{F85D15A8-40C9-4606-37EC-84378F1A5CF2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60" name="Freeform 60">
                <a:extLst>
                  <a:ext uri="{FF2B5EF4-FFF2-40B4-BE49-F238E27FC236}">
                    <a16:creationId xmlns:a16="http://schemas.microsoft.com/office/drawing/2014/main" id="{A4710B84-C6DD-579D-8692-65617B238418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TextBox 61">
                <a:extLst>
                  <a:ext uri="{FF2B5EF4-FFF2-40B4-BE49-F238E27FC236}">
                    <a16:creationId xmlns:a16="http://schemas.microsoft.com/office/drawing/2014/main" id="{D6B2EA8B-A789-6878-C18A-898881C5F87B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62" name="Group 62">
              <a:extLst>
                <a:ext uri="{FF2B5EF4-FFF2-40B4-BE49-F238E27FC236}">
                  <a16:creationId xmlns:a16="http://schemas.microsoft.com/office/drawing/2014/main" id="{7A8E1DD9-824A-CECC-A4C1-2ED871623852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63" name="Freeform 63">
                <a:extLst>
                  <a:ext uri="{FF2B5EF4-FFF2-40B4-BE49-F238E27FC236}">
                    <a16:creationId xmlns:a16="http://schemas.microsoft.com/office/drawing/2014/main" id="{7505906F-0502-5886-24B8-1DC5D536E9DC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Box 64">
                <a:extLst>
                  <a:ext uri="{FF2B5EF4-FFF2-40B4-BE49-F238E27FC236}">
                    <a16:creationId xmlns:a16="http://schemas.microsoft.com/office/drawing/2014/main" id="{18D7B16C-A45D-A18F-163D-F60A16F5C5DB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anchor="ctr"/>
              <a:lstStyle/>
              <a:p>
                <a:pPr lvl="0" algn="ctr">
                  <a:lnSpc>
                    <a:spcPts val="3080"/>
                  </a:lnSpc>
                  <a:defRPr/>
                </a:pPr>
                <a:endParaRPr lang="ko-KR" altLang="en-US"/>
              </a:p>
            </p:txBody>
          </p: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3D7F8781-696E-0409-F29A-E9F39C66F646}"/>
              </a:ext>
            </a:extLst>
          </p:cNvPr>
          <p:cNvSpPr txBox="1"/>
          <p:nvPr/>
        </p:nvSpPr>
        <p:spPr>
          <a:xfrm>
            <a:off x="1645956" y="3194208"/>
            <a:ext cx="146250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정보융합학부 </a:t>
            </a:r>
            <a:r>
              <a:rPr lang="en-US" altLang="ko-KR" sz="3600" b="1" dirty="0"/>
              <a:t>2024404044 </a:t>
            </a:r>
            <a:r>
              <a:rPr lang="ko-KR" altLang="en-US" sz="3600" b="1" dirty="0"/>
              <a:t>조유진 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팀장</a:t>
            </a:r>
            <a:r>
              <a:rPr lang="en-US" altLang="ko-KR" sz="3600" b="1" dirty="0"/>
              <a:t>)</a:t>
            </a:r>
          </a:p>
          <a:p>
            <a:r>
              <a:rPr lang="en-US" altLang="ko-KR" sz="3600" b="1" dirty="0"/>
              <a:t>- </a:t>
            </a:r>
            <a:r>
              <a:rPr lang="ko-KR" altLang="en-US" sz="3600" b="1" dirty="0"/>
              <a:t>기획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주요 코드 작성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발표 자료 준비 및 발표</a:t>
            </a:r>
            <a:endParaRPr lang="en-US" altLang="ko-KR" sz="3600" b="1" dirty="0"/>
          </a:p>
          <a:p>
            <a:pPr marL="571500" indent="-571500">
              <a:buFontTx/>
              <a:buChar char="-"/>
            </a:pPr>
            <a:endParaRPr lang="en-US" altLang="ko-KR" sz="3600" b="1" dirty="0"/>
          </a:p>
          <a:p>
            <a:r>
              <a:rPr lang="ko-KR" altLang="en-US" sz="3600" b="1" dirty="0"/>
              <a:t>정보융합학부 </a:t>
            </a:r>
            <a:r>
              <a:rPr lang="en-US" altLang="ko-KR" sz="3600" b="1" spc="-42" dirty="0">
                <a:latin typeface="210 국민체조"/>
                <a:ea typeface="210 국민체조"/>
                <a:cs typeface="210 국민체조"/>
                <a:sym typeface="210 국민체조"/>
              </a:rPr>
              <a:t>2024404008</a:t>
            </a:r>
            <a:r>
              <a:rPr lang="ko-KR" altLang="en-US" sz="3600" b="1" dirty="0"/>
              <a:t> 김규리 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팀원</a:t>
            </a:r>
            <a:r>
              <a:rPr lang="en-US" altLang="ko-KR" sz="3600" b="1" dirty="0"/>
              <a:t>)</a:t>
            </a:r>
          </a:p>
          <a:p>
            <a:r>
              <a:rPr lang="en-US" altLang="ko-KR" sz="3600" b="1" dirty="0"/>
              <a:t>- </a:t>
            </a:r>
            <a:r>
              <a:rPr lang="ko-KR" altLang="en-US" sz="3600" b="1" dirty="0"/>
              <a:t>기획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코드 수정 및 보안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자료 수집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발표 자료 준비</a:t>
            </a:r>
            <a:endParaRPr lang="en-US" altLang="ko-KR" sz="3600" b="1" dirty="0"/>
          </a:p>
          <a:p>
            <a:pPr marL="571500" indent="-571500">
              <a:buFontTx/>
              <a:buChar char="-"/>
            </a:pPr>
            <a:endParaRPr lang="en-US" altLang="ko-KR" sz="3600" b="1" dirty="0"/>
          </a:p>
          <a:p>
            <a:r>
              <a:rPr lang="ko-KR" altLang="en-US" sz="3600" b="1" dirty="0"/>
              <a:t>정보융합학부 </a:t>
            </a:r>
            <a:r>
              <a:rPr lang="en-US" altLang="ko-KR" sz="3600" b="1" spc="-42" dirty="0">
                <a:latin typeface="210 국민체조"/>
                <a:ea typeface="210 국민체조"/>
                <a:cs typeface="210 국민체조"/>
                <a:sym typeface="210 국민체조"/>
              </a:rPr>
              <a:t>2024404084 </a:t>
            </a:r>
            <a:r>
              <a:rPr lang="ko-KR" altLang="en-US" sz="3600" b="1" spc="-42" dirty="0">
                <a:latin typeface="210 국민체조"/>
                <a:ea typeface="210 국민체조"/>
                <a:cs typeface="210 국민체조"/>
                <a:sym typeface="210 국민체조"/>
              </a:rPr>
              <a:t>한지영 </a:t>
            </a:r>
            <a:r>
              <a:rPr lang="en-US" altLang="ko-KR" sz="3600" b="1" spc="-42" dirty="0"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3600" b="1" spc="-42" dirty="0">
                <a:latin typeface="210 국민체조"/>
                <a:ea typeface="210 국민체조"/>
                <a:cs typeface="210 국민체조"/>
                <a:sym typeface="210 국민체조"/>
              </a:rPr>
              <a:t>팀원</a:t>
            </a:r>
            <a:r>
              <a:rPr lang="en-US" altLang="ko-KR" sz="3600" b="1" spc="-42" dirty="0"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  <a:endParaRPr lang="en-US" altLang="ko-KR" sz="3600" b="1" dirty="0"/>
          </a:p>
          <a:p>
            <a:r>
              <a:rPr lang="en-US" altLang="ko-KR" sz="3600" b="1" dirty="0"/>
              <a:t>- </a:t>
            </a:r>
            <a:r>
              <a:rPr lang="ko-KR" altLang="en-US" sz="3600" b="1" dirty="0"/>
              <a:t>기획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코드 수정 및 보안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자료 수집</a:t>
            </a:r>
            <a:r>
              <a:rPr lang="en-US" altLang="ko-KR" sz="3600" b="1" dirty="0"/>
              <a:t>, </a:t>
            </a:r>
            <a:r>
              <a:rPr lang="ko-KR" altLang="en-US" sz="3600" b="1" dirty="0"/>
              <a:t>발표 자료 준비</a:t>
            </a:r>
            <a:endParaRPr lang="en-US" altLang="ko-KR" sz="3600" b="1" dirty="0"/>
          </a:p>
          <a:p>
            <a:pPr marL="571500" indent="-571500">
              <a:buFontTx/>
              <a:buChar char="-"/>
            </a:pPr>
            <a:endParaRPr lang="en-US" altLang="ko-KR" sz="3600" b="1" dirty="0"/>
          </a:p>
          <a:p>
            <a:r>
              <a:rPr lang="ko-KR" altLang="en-US" sz="3600" b="1" dirty="0"/>
              <a:t>유튜브 링크</a:t>
            </a:r>
            <a:r>
              <a:rPr lang="en-US" altLang="ko-KR" sz="3600" b="1"/>
              <a:t> - https://youtu.be/ZuAViT02h1w?si=AH9cgt6EUNvBqEG12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831708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0206" y="901110"/>
            <a:ext cx="16435806" cy="8766225"/>
            <a:chOff x="0" y="0"/>
            <a:chExt cx="21914407" cy="11688300"/>
          </a:xfrm>
        </p:grpSpPr>
        <p:grpSp>
          <p:nvGrpSpPr>
            <p:cNvPr id="3" name="Group 3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5757919" y="4202408"/>
            <a:ext cx="6623956" cy="15406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2878"/>
              </a:lnSpc>
              <a:defRPr/>
            </a:pPr>
            <a:r>
              <a:rPr lang="en-US" sz="9199" b="1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감사합니다</a:t>
            </a:r>
            <a:endParaRPr lang="en-US" sz="9199" b="1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15" name="Group 15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9" name="AutoShape 39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4630</Words>
  <Application>Microsoft Office PowerPoint</Application>
  <PresentationFormat>사용자 지정</PresentationFormat>
  <Paragraphs>481</Paragraphs>
  <Slides>39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51" baseType="lpstr">
      <vt:lpstr>210 국민체조</vt:lpstr>
      <vt:lpstr>Germania One</vt:lpstr>
      <vt:lpstr>Noto Sans Kr Bold</vt:lpstr>
      <vt:lpstr>TDTD순고딕</vt:lpstr>
      <vt:lpstr>TDTD순고딕 Bold</vt:lpstr>
      <vt:lpstr>맑은 고딕</vt:lpstr>
      <vt:lpstr>윤고딕</vt:lpstr>
      <vt:lpstr>윤고딕 Bold</vt:lpstr>
      <vt:lpstr>Arial</vt:lpstr>
      <vt:lpstr>Calibri</vt:lpstr>
      <vt:lpstr>DM Sans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은퇴 노인을 위한 취미 일자리 매칭</dc:title>
  <dc:creator>유저용</dc:creator>
  <cp:lastModifiedBy>유진 조</cp:lastModifiedBy>
  <cp:revision>12</cp:revision>
  <dcterms:created xsi:type="dcterms:W3CDTF">2006-08-16T00:00:00Z</dcterms:created>
  <dcterms:modified xsi:type="dcterms:W3CDTF">2025-12-04T04:37:57Z</dcterms:modified>
  <cp:version/>
</cp:coreProperties>
</file>